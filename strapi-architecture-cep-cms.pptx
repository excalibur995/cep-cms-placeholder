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Session focus: navigator and template-screen only
• Direct integration — no proxy in between
• The defaultValue field ties CMS content to session state
• Open forum — invite questions throughout
This walkthrough is focused specifically on the two APIs you'll be integrating against: navigator and template-screen. I'll show how the app talks to our CMS directly — no proxy in between — walk through both endpoints in detail, and cover the one field, defaultValue, that ties CMS content back to your session state. Stop me anytime with questions, since this is meant to be a working session as much as a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Strapi is a headless CMS — admin panel for editors, auto-generated REST API for everyone else
• Collection Type — many entries, each with its own record and URL (template-screen, navigator)
• Single Type — exactly one entry, used for global settings (help-support-setting)
• Component — a reusable field group, not queryable on its own (navigation.screen-entry)
Strapi is what's called a headless CMS — headless meaning it has no public-facing website of its own. It gives our content team an admin panel to manage content, and it automatically turns that content into a REST API. Every schema in Strapi is one of three things: a Collection Type for content with many entries, a Single Type for content with exactly one entry, or a Component — a small reusable building block that never has its own endpoint and only ever lives nested inside another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Schema (schema.json) — defines data shape, fields, relations
• Routes (routes/*.ts) — URL + method → controller handler
• Controller (controllers/*.ts) — shapes the response; where our custom logic lives
• Service (services/*.ts) — data-access layer, defaults to the Document Service
• navigator and template-screen only customize Routes + Controller, not Schema or Service
Every API in this project is built from four layers. The Schema defines the shape of the data. Routes map a URL and HTTP method to a specific handler. The Controller is where we shape the request and response — this is where custom logic lives. And the Service is the reusable layer underneath that talks to the database, which for these two APIs is just Strapi's default. Keep this picture in mind: everything interesting about navigator and template-screen happens in their Controllers.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Two backends, called directly and independently
• CMS = read-only content
• Orchestrator = journey state machine
• No proxy, and neither backend calls the other
The app talks to two backends independently and directly. It calls our CMS, Strapi, to ask 'what screens exist and what do they look like' — that's read-only content. Separately, it calls the Orchestrator to ask 'what step am I on and what data have I collected so far' — that's the actual journey state machine. These two systems don't talk to each other; the app is the one stitching them together on every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Navigator — fetched once, used for screenCode → route lookup
• Template-screen — fetched fresh on every screen
• The differing call cadence is the key distinction to remember
Two endpoints matter for this integration. Navigator answers 'what's the sequence of screens for this journey' — you call it once, at the start, and keep it around. Template-screen answers 'what does this specific screen look like' — you call it fresh, every single time you land on a new screen in the journey, because a screen's layout is defined entirely by its CMS-authored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Navigator is fetched once, right at the start
• Loop: resolve screenCode → fetch template-screen → prefill → submit → next screenCode
• Orchestrator start/submit compressed so the two gold CMS calls stand out
• Loop repeats until a terminal screen is reached
Here's the full loop end to end. Navigator is fetched once, right at the start, purely to build a lookup table of screenCode to route. From there, the pattern repeats for every step: the orchestrator tells the app which screenCode is next, the app resolves that to a route and fetches that screen's template-screen config from the CMS, the user fills the form, and on submit the app sends the data back to the orchestrator, which returns the next screenCode. I've compressed the orchestrator's start and submit calls into single boxes here so the two CMS calls — the ones you're integrating against — stand out in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GET /navigators/:journeyCode — called once
• Three fields: screenCode, screenName, sequence
• Response is the array directly, no wrapper
This is the navigator content type: a journey identifier, plus an ordered list of screen entries, each with a code, a name, and a sequence number. You call this once with the journey's identifier and get back that ordered list — this is what lets your app know, upfront, the full shape of the journey before the user has even started filling anything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Pre-sorted and pre-trimmed
• It's a lookup table, not a route list
• Fetched once, kept in app state for the whole journey
We deliberately shaped this response for direct consumption — it's already sorted by sequence, and trimmed down to exactly the three fields you need. There's no draft/publish metadata, no internal IDs, nothing to filter or re-sort on your end. You fetch it once per journey and use it purely as a lookup table: given a screenCode from the orchestrator, find the matching entry here to resolve which screen to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GET /template-screens/:template_id — called every step
• Internally an array; you receive a componentId-keyed map
• Look up fields by componentId, not by scanning
Template-screen is the other endpoint, and you'll call this one on every step. Internally, a screen is built from an ordered list of components — a title, a dropdown, a button — but we don't send you that raw list. We convert it into an object keyed by each component's ID, so you can look up any field directly by name instead of scanning an array on every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defaultValue = static string OR a binding to an orchestrator variable
• Used to prefill fields when the screen loads
• Same binding used to remap form fields on submit
This is the field that matters most for your integration: defaultValue. On some components, it's just a static string. But on form fields, it's typically a binding — a key that matches a variable name coming back from the orchestrator's session state. That's the mechanism that lets you prefill a field with data the user already entered on a previous step, and it's also what you use in reverse when submitting, to map your form's local field names back to the canonical variable names the orchestrator expects.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Dropdown values are resolved server-side — ready-to-render list
• hide flag defaults to true — unfinished components are never sent
• Both are automatic; no extra logic required on your end
Two more details worth knowing. When a screen has a dropdown, we don't just give you a relation ID — we resolve it server-side and hand you a ready-to-render list of options. And every component has a hidden flag that defaults to true, meaning our content team can build and stage a new screen in the CMS without it ever appearing in your app — you'll only ever receive components that are explicitly meant to be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Walk the table — both endpoints, methods, response shapes
• Highlight the four rules of thumb
• This slide doubles as their reference card after the meeting
Here's the whole contract on one slide — the two endpoints, what you pass in, and what shape comes back. Keep this as your reference card during integration, especially the rules of thumb at the bottom — those are the four things most likely to trip up a first integration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Three triggers: new component type, new relation, a bug fix
• We will always flag a contract change proactively
• Otherwise, today's shape is stable
A few things can cause the response shape to change on our end: a new type of component gets added to a screen, a field needs to expose a new relationship, or we find and fix a bug in how a relationship is resolved. When any of these happen, we'll flag it — but structurally, the shape you're integrating against today, the componentId-keyed map and the defaultValue bindings, is stable and won't change without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Recap: navigator + template-screen + the defaultValue contract
• Open the floor for questions
That's the full picture of how your app will talk to navigator and template-screen. Let's open it up — happy to go deeper into any endpoint, the sequence diagram, or the defaultValue binding contract specifically, since that's usually where integration questions come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448495" y="822960"/>
            <a:ext cx="1371600" cy="1371600"/>
          </a:xfrm>
          <a:prstGeom prst="ellipse">
            <a:avLst/>
          </a:prstGeom>
          <a:solidFill>
            <a:srgbClr val="16204A"/>
          </a:solidFill>
          <a:ln/>
        </p:spPr>
      </p:sp>
      <p:pic>
        <p:nvPicPr>
          <p:cNvPr id="3" name="Image 0" descr="preencoded.png">    </p:cNvPr>
          <p:cNvPicPr>
            <a:picLocks noChangeAspect="1"/>
          </p:cNvPicPr>
          <p:nvPr/>
        </p:nvPicPr>
        <p:blipFill>
          <a:blip r:embed="rId1"/>
          <a:stretch>
            <a:fillRect/>
          </a:stretch>
        </p:blipFill>
        <p:spPr>
          <a:xfrm>
            <a:off x="9805111" y="1179576"/>
            <a:ext cx="658368" cy="658368"/>
          </a:xfrm>
          <a:prstGeom prst="rect">
            <a:avLst/>
          </a:prstGeom>
        </p:spPr>
      </p:pic>
      <p:sp>
        <p:nvSpPr>
          <p:cNvPr id="4" name="Text 1"/>
          <p:cNvSpPr/>
          <p:nvPr/>
        </p:nvSpPr>
        <p:spPr>
          <a:xfrm>
            <a:off x="822960" y="2331720"/>
            <a:ext cx="8229600" cy="365760"/>
          </a:xfrm>
          <a:prstGeom prst="rect">
            <a:avLst/>
          </a:prstGeom>
          <a:noFill/>
          <a:ln/>
        </p:spPr>
        <p:txBody>
          <a:bodyPr wrap="square" lIns="0" tIns="0" rIns="0" bIns="0" rtlCol="0" anchor="ctr"/>
          <a:lstStyle/>
          <a:p>
            <a:pPr indent="0" marL="0">
              <a:buNone/>
            </a:pPr>
            <a:r>
              <a:rPr lang="en-US" sz="1400" b="1" spc="300" kern="0" dirty="0">
                <a:solidFill>
                  <a:srgbClr val="D9A441"/>
                </a:solidFill>
                <a:latin typeface="Calibri" pitchFamily="34" charset="0"/>
                <a:ea typeface="Calibri" pitchFamily="34" charset="-122"/>
                <a:cs typeface="Calibri" pitchFamily="34" charset="-120"/>
              </a:rPr>
              <a:t>CEP-CMS  •  INTEGRATION</a:t>
            </a:r>
            <a:endParaRPr lang="en-US" sz="1400" dirty="0"/>
          </a:p>
        </p:txBody>
      </p:sp>
      <p:sp>
        <p:nvSpPr>
          <p:cNvPr id="5" name="Text 2"/>
          <p:cNvSpPr/>
          <p:nvPr/>
        </p:nvSpPr>
        <p:spPr>
          <a:xfrm>
            <a:off x="822960" y="2697480"/>
            <a:ext cx="1051560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Navigator &amp; Template-Screen</a:t>
            </a:r>
            <a:endParaRPr lang="en-US" sz="4200" dirty="0"/>
          </a:p>
        </p:txBody>
      </p:sp>
      <p:sp>
        <p:nvSpPr>
          <p:cNvPr id="6" name="Text 3"/>
          <p:cNvSpPr/>
          <p:nvPr/>
        </p:nvSpPr>
        <p:spPr>
          <a:xfrm>
            <a:off x="822960" y="3520440"/>
            <a:ext cx="10058400" cy="640080"/>
          </a:xfrm>
          <a:prstGeom prst="rect">
            <a:avLst/>
          </a:prstGeom>
          <a:noFill/>
          <a:ln/>
        </p:spPr>
        <p:txBody>
          <a:bodyPr wrap="square" lIns="0" tIns="0" rIns="0" bIns="0" rtlCol="0" anchor="ctr"/>
          <a:lstStyle/>
          <a:p>
            <a:pPr indent="0" marL="0">
              <a:buNone/>
            </a:pPr>
            <a:r>
              <a:rPr lang="en-US" sz="2400" dirty="0">
                <a:solidFill>
                  <a:srgbClr val="CADCFC"/>
                </a:solidFill>
                <a:latin typeface="Cambria" pitchFamily="34" charset="0"/>
                <a:ea typeface="Cambria" pitchFamily="34" charset="-122"/>
                <a:cs typeface="Cambria" pitchFamily="34" charset="-120"/>
              </a:rPr>
              <a:t>Integration Walkthrough</a:t>
            </a:r>
            <a:endParaRPr lang="en-US" sz="2400" dirty="0"/>
          </a:p>
        </p:txBody>
      </p:sp>
      <p:sp>
        <p:nvSpPr>
          <p:cNvPr id="7" name="Text 4"/>
          <p:cNvSpPr/>
          <p:nvPr/>
        </p:nvSpPr>
        <p:spPr>
          <a:xfrm>
            <a:off x="822960" y="4114800"/>
            <a:ext cx="9144000" cy="45720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The two CMS endpoints the app calls directly, and how they fit into the journey loop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FOUNDATIONS</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Strapi, in 30 Seconds</a:t>
            </a:r>
            <a:endParaRPr lang="en-US" sz="3000" dirty="0"/>
          </a:p>
        </p:txBody>
      </p:sp>
      <p:sp>
        <p:nvSpPr>
          <p:cNvPr id="4" name="Text 2"/>
          <p:cNvSpPr/>
          <p:nvPr/>
        </p:nvSpPr>
        <p:spPr>
          <a:xfrm>
            <a:off x="548640" y="1371600"/>
            <a:ext cx="11094415" cy="548640"/>
          </a:xfrm>
          <a:prstGeom prst="rect">
            <a:avLst/>
          </a:prstGeom>
          <a:noFill/>
          <a:ln/>
        </p:spPr>
        <p:txBody>
          <a:bodyPr wrap="square" lIns="0" tIns="0" rIns="0" bIns="0" rtlCol="0" anchor="ctr"/>
          <a:lstStyle/>
          <a:p>
            <a:pPr indent="0" marL="0">
              <a:buNone/>
            </a:pPr>
            <a:r>
              <a:rPr lang="en-US" sz="1450" dirty="0">
                <a:solidFill>
                  <a:srgbClr val="20264A"/>
                </a:solidFill>
                <a:latin typeface="Calibri" pitchFamily="34" charset="0"/>
                <a:ea typeface="Calibri" pitchFamily="34" charset="-122"/>
                <a:cs typeface="Calibri" pitchFamily="34" charset="-120"/>
              </a:rPr>
              <a:t>A headless CMS: an admin panel for editors, and an auto-generated REST API for everything else — including navigator and template-screen.</a:t>
            </a:r>
            <a:endParaRPr lang="en-US" sz="1450" dirty="0"/>
          </a:p>
        </p:txBody>
      </p:sp>
      <p:sp>
        <p:nvSpPr>
          <p:cNvPr id="5" name="Shape 3"/>
          <p:cNvSpPr/>
          <p:nvPr/>
        </p:nvSpPr>
        <p:spPr>
          <a:xfrm>
            <a:off x="563728" y="2286000"/>
            <a:ext cx="3383280" cy="3749040"/>
          </a:xfrm>
          <a:prstGeom prst="roundRect">
            <a:avLst>
              <a:gd name="adj" fmla="val 2162"/>
            </a:avLst>
          </a:prstGeom>
          <a:solidFill>
            <a:srgbClr val="F4F7FD"/>
          </a:solidFill>
          <a:ln/>
          <a:effectLst>
            <a:outerShdw sx="100000" sy="100000" kx="0" ky="0" algn="bl" rotWithShape="0" blurRad="88900" dist="25400" dir="5400000">
              <a:srgbClr val="000000">
                <a:alpha val="10000"/>
              </a:srgbClr>
            </a:outerShdw>
          </a:effectLst>
        </p:spPr>
      </p:sp>
      <p:sp>
        <p:nvSpPr>
          <p:cNvPr id="6" name="Shape 4"/>
          <p:cNvSpPr/>
          <p:nvPr/>
        </p:nvSpPr>
        <p:spPr>
          <a:xfrm>
            <a:off x="1843888" y="2606040"/>
            <a:ext cx="822960" cy="822960"/>
          </a:xfrm>
          <a:prstGeom prst="ellipse">
            <a:avLst/>
          </a:prstGeom>
          <a:solidFill>
            <a:srgbClr val="CADCFC"/>
          </a:solidFill>
          <a:ln/>
        </p:spPr>
      </p:sp>
      <p:pic>
        <p:nvPicPr>
          <p:cNvPr id="7" name="Image 0" descr="preencoded.png">    </p:cNvPr>
          <p:cNvPicPr>
            <a:picLocks noChangeAspect="1"/>
          </p:cNvPicPr>
          <p:nvPr/>
        </p:nvPicPr>
        <p:blipFill>
          <a:blip r:embed="rId1"/>
          <a:stretch>
            <a:fillRect/>
          </a:stretch>
        </p:blipFill>
        <p:spPr>
          <a:xfrm>
            <a:off x="2057857" y="2820010"/>
            <a:ext cx="395021" cy="395021"/>
          </a:xfrm>
          <a:prstGeom prst="rect">
            <a:avLst/>
          </a:prstGeom>
        </p:spPr>
      </p:pic>
      <p:sp>
        <p:nvSpPr>
          <p:cNvPr id="8" name="Text 5"/>
          <p:cNvSpPr/>
          <p:nvPr/>
        </p:nvSpPr>
        <p:spPr>
          <a:xfrm>
            <a:off x="792328" y="3566160"/>
            <a:ext cx="2926080" cy="365760"/>
          </a:xfrm>
          <a:prstGeom prst="rect">
            <a:avLst/>
          </a:prstGeom>
          <a:noFill/>
          <a:ln/>
        </p:spPr>
        <p:txBody>
          <a:bodyPr wrap="square" lIns="0" tIns="0" rIns="0" bIns="0" rtlCol="0" anchor="ctr"/>
          <a:lstStyle/>
          <a:p>
            <a:pPr algn="ctr" indent="0" marL="0">
              <a:buNone/>
            </a:pPr>
            <a:r>
              <a:rPr lang="en-US" sz="1550" b="1" dirty="0">
                <a:solidFill>
                  <a:srgbClr val="1E2761"/>
                </a:solidFill>
                <a:latin typeface="Cambria" pitchFamily="34" charset="0"/>
                <a:ea typeface="Cambria" pitchFamily="34" charset="-122"/>
                <a:cs typeface="Cambria" pitchFamily="34" charset="-120"/>
              </a:rPr>
              <a:t>Collection Type</a:t>
            </a:r>
            <a:endParaRPr lang="en-US" sz="1550" dirty="0"/>
          </a:p>
        </p:txBody>
      </p:sp>
      <p:sp>
        <p:nvSpPr>
          <p:cNvPr id="9" name="Text 6"/>
          <p:cNvSpPr/>
          <p:nvPr/>
        </p:nvSpPr>
        <p:spPr>
          <a:xfrm>
            <a:off x="838048" y="3977640"/>
            <a:ext cx="2834640" cy="1371600"/>
          </a:xfrm>
          <a:prstGeom prst="rect">
            <a:avLst/>
          </a:prstGeom>
          <a:noFill/>
          <a:ln/>
        </p:spPr>
        <p:txBody>
          <a:bodyPr wrap="square" lIns="0" tIns="0" rIns="0" bIns="0" rtlCol="0" anchor="ctr"/>
          <a:lstStyle/>
          <a:p>
            <a:pPr algn="ctr" indent="0" marL="0">
              <a:buNone/>
            </a:pPr>
            <a:r>
              <a:rPr lang="en-US" sz="1150" dirty="0">
                <a:solidFill>
                  <a:srgbClr val="20264A"/>
                </a:solidFill>
                <a:latin typeface="Calibri" pitchFamily="34" charset="0"/>
                <a:ea typeface="Calibri" pitchFamily="34" charset="-122"/>
                <a:cs typeface="Calibri" pitchFamily="34" charset="-120"/>
              </a:rPr>
              <a:t>A content type with many entries, each with its own record and URL.</a:t>
            </a:r>
            <a:endParaRPr lang="en-US" sz="1150" dirty="0"/>
          </a:p>
        </p:txBody>
      </p:sp>
      <p:sp>
        <p:nvSpPr>
          <p:cNvPr id="10" name="Text 7"/>
          <p:cNvSpPr/>
          <p:nvPr/>
        </p:nvSpPr>
        <p:spPr>
          <a:xfrm>
            <a:off x="792328" y="5532120"/>
            <a:ext cx="2926080" cy="365760"/>
          </a:xfrm>
          <a:prstGeom prst="rect">
            <a:avLst/>
          </a:prstGeom>
          <a:noFill/>
          <a:ln/>
        </p:spPr>
        <p:txBody>
          <a:bodyPr wrap="square" lIns="0" tIns="0" rIns="0" bIns="0" rtlCol="0" anchor="ctr"/>
          <a:lstStyle/>
          <a:p>
            <a:pPr algn="ctr" indent="0" marL="0">
              <a:buNone/>
            </a:pPr>
            <a:r>
              <a:rPr lang="en-US" sz="1100" i="1" dirty="0">
                <a:solidFill>
                  <a:srgbClr val="5B6B8C"/>
                </a:solidFill>
                <a:latin typeface="Courier New" pitchFamily="34" charset="0"/>
                <a:ea typeface="Courier New" pitchFamily="34" charset="-122"/>
                <a:cs typeface="Courier New" pitchFamily="34" charset="-120"/>
              </a:rPr>
              <a:t>e.g. </a:t>
            </a:r>
            <a:pPr algn="ctr" indent="0" marL="0">
              <a:buNone/>
            </a:pPr>
            <a:r>
              <a:rPr lang="en-US" sz="1100" b="1" dirty="0">
                <a:solidFill>
                  <a:srgbClr val="D9A441"/>
                </a:solidFill>
                <a:latin typeface="Courier New" pitchFamily="34" charset="0"/>
                <a:ea typeface="Courier New" pitchFamily="34" charset="-122"/>
                <a:cs typeface="Courier New" pitchFamily="34" charset="-120"/>
              </a:rPr>
              <a:t>template-screen, navigator</a:t>
            </a:r>
            <a:endParaRPr lang="en-US" sz="1100" dirty="0"/>
          </a:p>
        </p:txBody>
      </p:sp>
      <p:sp>
        <p:nvSpPr>
          <p:cNvPr id="11" name="Shape 8"/>
          <p:cNvSpPr/>
          <p:nvPr/>
        </p:nvSpPr>
        <p:spPr>
          <a:xfrm>
            <a:off x="4404208" y="2286000"/>
            <a:ext cx="3383280" cy="3749040"/>
          </a:xfrm>
          <a:prstGeom prst="roundRect">
            <a:avLst>
              <a:gd name="adj" fmla="val 2162"/>
            </a:avLst>
          </a:prstGeom>
          <a:solidFill>
            <a:srgbClr val="F4F7FD"/>
          </a:solidFill>
          <a:ln/>
          <a:effectLst>
            <a:outerShdw sx="100000" sy="100000" kx="0" ky="0" algn="bl" rotWithShape="0" blurRad="88900" dist="25400" dir="5400000">
              <a:srgbClr val="000000">
                <a:alpha val="10000"/>
              </a:srgbClr>
            </a:outerShdw>
          </a:effectLst>
        </p:spPr>
      </p:sp>
      <p:sp>
        <p:nvSpPr>
          <p:cNvPr id="12" name="Shape 9"/>
          <p:cNvSpPr/>
          <p:nvPr/>
        </p:nvSpPr>
        <p:spPr>
          <a:xfrm>
            <a:off x="5684368" y="2606040"/>
            <a:ext cx="822960" cy="822960"/>
          </a:xfrm>
          <a:prstGeom prst="ellipse">
            <a:avLst/>
          </a:prstGeom>
          <a:solidFill>
            <a:srgbClr val="CADCFC"/>
          </a:solidFill>
          <a:ln/>
        </p:spPr>
      </p:sp>
      <p:pic>
        <p:nvPicPr>
          <p:cNvPr id="13" name="Image 1" descr="preencoded.png">    </p:cNvPr>
          <p:cNvPicPr>
            <a:picLocks noChangeAspect="1"/>
          </p:cNvPicPr>
          <p:nvPr/>
        </p:nvPicPr>
        <p:blipFill>
          <a:blip r:embed="rId2"/>
          <a:stretch>
            <a:fillRect/>
          </a:stretch>
        </p:blipFill>
        <p:spPr>
          <a:xfrm>
            <a:off x="5898337" y="2820010"/>
            <a:ext cx="395021" cy="395021"/>
          </a:xfrm>
          <a:prstGeom prst="rect">
            <a:avLst/>
          </a:prstGeom>
        </p:spPr>
      </p:pic>
      <p:sp>
        <p:nvSpPr>
          <p:cNvPr id="14" name="Text 10"/>
          <p:cNvSpPr/>
          <p:nvPr/>
        </p:nvSpPr>
        <p:spPr>
          <a:xfrm>
            <a:off x="4632808" y="3566160"/>
            <a:ext cx="2926080" cy="365760"/>
          </a:xfrm>
          <a:prstGeom prst="rect">
            <a:avLst/>
          </a:prstGeom>
          <a:noFill/>
          <a:ln/>
        </p:spPr>
        <p:txBody>
          <a:bodyPr wrap="square" lIns="0" tIns="0" rIns="0" bIns="0" rtlCol="0" anchor="ctr"/>
          <a:lstStyle/>
          <a:p>
            <a:pPr algn="ctr" indent="0" marL="0">
              <a:buNone/>
            </a:pPr>
            <a:r>
              <a:rPr lang="en-US" sz="1550" b="1" dirty="0">
                <a:solidFill>
                  <a:srgbClr val="1E2761"/>
                </a:solidFill>
                <a:latin typeface="Cambria" pitchFamily="34" charset="0"/>
                <a:ea typeface="Cambria" pitchFamily="34" charset="-122"/>
                <a:cs typeface="Cambria" pitchFamily="34" charset="-120"/>
              </a:rPr>
              <a:t>Single Type</a:t>
            </a:r>
            <a:endParaRPr lang="en-US" sz="1550" dirty="0"/>
          </a:p>
        </p:txBody>
      </p:sp>
      <p:sp>
        <p:nvSpPr>
          <p:cNvPr id="15" name="Text 11"/>
          <p:cNvSpPr/>
          <p:nvPr/>
        </p:nvSpPr>
        <p:spPr>
          <a:xfrm>
            <a:off x="4678528" y="3977640"/>
            <a:ext cx="2834640" cy="1371600"/>
          </a:xfrm>
          <a:prstGeom prst="rect">
            <a:avLst/>
          </a:prstGeom>
          <a:noFill/>
          <a:ln/>
        </p:spPr>
        <p:txBody>
          <a:bodyPr wrap="square" lIns="0" tIns="0" rIns="0" bIns="0" rtlCol="0" anchor="ctr"/>
          <a:lstStyle/>
          <a:p>
            <a:pPr algn="ctr" indent="0" marL="0">
              <a:buNone/>
            </a:pPr>
            <a:r>
              <a:rPr lang="en-US" sz="1150" dirty="0">
                <a:solidFill>
                  <a:srgbClr val="20264A"/>
                </a:solidFill>
                <a:latin typeface="Calibri" pitchFamily="34" charset="0"/>
                <a:ea typeface="Calibri" pitchFamily="34" charset="-122"/>
                <a:cs typeface="Calibri" pitchFamily="34" charset="-120"/>
              </a:rPr>
              <a:t>A content type with exactly one entry — used for global/site-wide settings.</a:t>
            </a:r>
            <a:endParaRPr lang="en-US" sz="1150" dirty="0"/>
          </a:p>
        </p:txBody>
      </p:sp>
      <p:sp>
        <p:nvSpPr>
          <p:cNvPr id="16" name="Text 12"/>
          <p:cNvSpPr/>
          <p:nvPr/>
        </p:nvSpPr>
        <p:spPr>
          <a:xfrm>
            <a:off x="4632808" y="5532120"/>
            <a:ext cx="2926080" cy="365760"/>
          </a:xfrm>
          <a:prstGeom prst="rect">
            <a:avLst/>
          </a:prstGeom>
          <a:noFill/>
          <a:ln/>
        </p:spPr>
        <p:txBody>
          <a:bodyPr wrap="square" lIns="0" tIns="0" rIns="0" bIns="0" rtlCol="0" anchor="ctr"/>
          <a:lstStyle/>
          <a:p>
            <a:pPr algn="ctr" indent="0" marL="0">
              <a:buNone/>
            </a:pPr>
            <a:r>
              <a:rPr lang="en-US" sz="1100" i="1" dirty="0">
                <a:solidFill>
                  <a:srgbClr val="5B6B8C"/>
                </a:solidFill>
                <a:latin typeface="Courier New" pitchFamily="34" charset="0"/>
                <a:ea typeface="Courier New" pitchFamily="34" charset="-122"/>
                <a:cs typeface="Courier New" pitchFamily="34" charset="-120"/>
              </a:rPr>
              <a:t>e.g. </a:t>
            </a:r>
            <a:pPr algn="ctr" indent="0" marL="0">
              <a:buNone/>
            </a:pPr>
            <a:r>
              <a:rPr lang="en-US" sz="1100" b="1" dirty="0">
                <a:solidFill>
                  <a:srgbClr val="D9A441"/>
                </a:solidFill>
                <a:latin typeface="Courier New" pitchFamily="34" charset="0"/>
                <a:ea typeface="Courier New" pitchFamily="34" charset="-122"/>
                <a:cs typeface="Courier New" pitchFamily="34" charset="-120"/>
              </a:rPr>
              <a:t>help-support-setting</a:t>
            </a:r>
            <a:endParaRPr lang="en-US" sz="1100" dirty="0"/>
          </a:p>
        </p:txBody>
      </p:sp>
      <p:sp>
        <p:nvSpPr>
          <p:cNvPr id="17" name="Shape 13"/>
          <p:cNvSpPr/>
          <p:nvPr/>
        </p:nvSpPr>
        <p:spPr>
          <a:xfrm>
            <a:off x="8244688" y="2286000"/>
            <a:ext cx="3383280" cy="3749040"/>
          </a:xfrm>
          <a:prstGeom prst="roundRect">
            <a:avLst>
              <a:gd name="adj" fmla="val 2162"/>
            </a:avLst>
          </a:prstGeom>
          <a:solidFill>
            <a:srgbClr val="F4F7FD"/>
          </a:solidFill>
          <a:ln/>
          <a:effectLst>
            <a:outerShdw sx="100000" sy="100000" kx="0" ky="0" algn="bl" rotWithShape="0" blurRad="88900" dist="25400" dir="5400000">
              <a:srgbClr val="000000">
                <a:alpha val="10000"/>
              </a:srgbClr>
            </a:outerShdw>
          </a:effectLst>
        </p:spPr>
      </p:sp>
      <p:sp>
        <p:nvSpPr>
          <p:cNvPr id="18" name="Shape 14"/>
          <p:cNvSpPr/>
          <p:nvPr/>
        </p:nvSpPr>
        <p:spPr>
          <a:xfrm>
            <a:off x="9524848" y="2606040"/>
            <a:ext cx="822960" cy="822960"/>
          </a:xfrm>
          <a:prstGeom prst="ellipse">
            <a:avLst/>
          </a:prstGeom>
          <a:solidFill>
            <a:srgbClr val="CADCFC"/>
          </a:solidFill>
          <a:ln/>
        </p:spPr>
      </p:sp>
      <p:pic>
        <p:nvPicPr>
          <p:cNvPr id="19" name="Image 2" descr="preencoded.png">    </p:cNvPr>
          <p:cNvPicPr>
            <a:picLocks noChangeAspect="1"/>
          </p:cNvPicPr>
          <p:nvPr/>
        </p:nvPicPr>
        <p:blipFill>
          <a:blip r:embed="rId3"/>
          <a:stretch>
            <a:fillRect/>
          </a:stretch>
        </p:blipFill>
        <p:spPr>
          <a:xfrm>
            <a:off x="9738817" y="2820010"/>
            <a:ext cx="395021" cy="395021"/>
          </a:xfrm>
          <a:prstGeom prst="rect">
            <a:avLst/>
          </a:prstGeom>
        </p:spPr>
      </p:pic>
      <p:sp>
        <p:nvSpPr>
          <p:cNvPr id="20" name="Text 15"/>
          <p:cNvSpPr/>
          <p:nvPr/>
        </p:nvSpPr>
        <p:spPr>
          <a:xfrm>
            <a:off x="8473288" y="3566160"/>
            <a:ext cx="2926080" cy="365760"/>
          </a:xfrm>
          <a:prstGeom prst="rect">
            <a:avLst/>
          </a:prstGeom>
          <a:noFill/>
          <a:ln/>
        </p:spPr>
        <p:txBody>
          <a:bodyPr wrap="square" lIns="0" tIns="0" rIns="0" bIns="0" rtlCol="0" anchor="ctr"/>
          <a:lstStyle/>
          <a:p>
            <a:pPr algn="ctr" indent="0" marL="0">
              <a:buNone/>
            </a:pPr>
            <a:r>
              <a:rPr lang="en-US" sz="1550" b="1" dirty="0">
                <a:solidFill>
                  <a:srgbClr val="1E2761"/>
                </a:solidFill>
                <a:latin typeface="Cambria" pitchFamily="34" charset="0"/>
                <a:ea typeface="Cambria" pitchFamily="34" charset="-122"/>
                <a:cs typeface="Cambria" pitchFamily="34" charset="-120"/>
              </a:rPr>
              <a:t>Component</a:t>
            </a:r>
            <a:endParaRPr lang="en-US" sz="1550" dirty="0"/>
          </a:p>
        </p:txBody>
      </p:sp>
      <p:sp>
        <p:nvSpPr>
          <p:cNvPr id="21" name="Text 16"/>
          <p:cNvSpPr/>
          <p:nvPr/>
        </p:nvSpPr>
        <p:spPr>
          <a:xfrm>
            <a:off x="8519008" y="3977640"/>
            <a:ext cx="2834640" cy="1371600"/>
          </a:xfrm>
          <a:prstGeom prst="rect">
            <a:avLst/>
          </a:prstGeom>
          <a:noFill/>
          <a:ln/>
        </p:spPr>
        <p:txBody>
          <a:bodyPr wrap="square" lIns="0" tIns="0" rIns="0" bIns="0" rtlCol="0" anchor="ctr"/>
          <a:lstStyle/>
          <a:p>
            <a:pPr algn="ctr" indent="0" marL="0">
              <a:buNone/>
            </a:pPr>
            <a:r>
              <a:rPr lang="en-US" sz="1150" dirty="0">
                <a:solidFill>
                  <a:srgbClr val="20264A"/>
                </a:solidFill>
                <a:latin typeface="Calibri" pitchFamily="34" charset="0"/>
                <a:ea typeface="Calibri" pitchFamily="34" charset="-122"/>
                <a:cs typeface="Calibri" pitchFamily="34" charset="-120"/>
              </a:rPr>
              <a:t>A reusable field group, not queryable on its own — only ever nested inside other types.</a:t>
            </a:r>
            <a:endParaRPr lang="en-US" sz="1150" dirty="0"/>
          </a:p>
        </p:txBody>
      </p:sp>
      <p:sp>
        <p:nvSpPr>
          <p:cNvPr id="22" name="Text 17"/>
          <p:cNvSpPr/>
          <p:nvPr/>
        </p:nvSpPr>
        <p:spPr>
          <a:xfrm>
            <a:off x="8473288" y="5532120"/>
            <a:ext cx="2926080" cy="365760"/>
          </a:xfrm>
          <a:prstGeom prst="rect">
            <a:avLst/>
          </a:prstGeom>
          <a:noFill/>
          <a:ln/>
        </p:spPr>
        <p:txBody>
          <a:bodyPr wrap="square" lIns="0" tIns="0" rIns="0" bIns="0" rtlCol="0" anchor="ctr"/>
          <a:lstStyle/>
          <a:p>
            <a:pPr algn="ctr" indent="0" marL="0">
              <a:buNone/>
            </a:pPr>
            <a:r>
              <a:rPr lang="en-US" sz="1100" i="1" dirty="0">
                <a:solidFill>
                  <a:srgbClr val="5B6B8C"/>
                </a:solidFill>
                <a:latin typeface="Courier New" pitchFamily="34" charset="0"/>
                <a:ea typeface="Courier New" pitchFamily="34" charset="-122"/>
                <a:cs typeface="Courier New" pitchFamily="34" charset="-120"/>
              </a:rPr>
              <a:t>e.g. </a:t>
            </a:r>
            <a:pPr algn="ctr" indent="0" marL="0">
              <a:buNone/>
            </a:pPr>
            <a:r>
              <a:rPr lang="en-US" sz="1100" b="1" dirty="0">
                <a:solidFill>
                  <a:srgbClr val="D9A441"/>
                </a:solidFill>
                <a:latin typeface="Courier New" pitchFamily="34" charset="0"/>
                <a:ea typeface="Courier New" pitchFamily="34" charset="-122"/>
                <a:cs typeface="Courier New" pitchFamily="34" charset="-120"/>
              </a:rPr>
              <a:t>navigation.screen-entry</a:t>
            </a:r>
            <a:endParaRPr lang="en-US" sz="1100" dirty="0"/>
          </a:p>
        </p:txBody>
      </p:sp>
      <p:sp>
        <p:nvSpPr>
          <p:cNvPr id="23" name="Text 18"/>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24" name="Text 19"/>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FOUNDATIONS</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Anatomy of a Strapi API</a:t>
            </a:r>
            <a:endParaRPr lang="en-US" sz="3000" dirty="0"/>
          </a:p>
        </p:txBody>
      </p:sp>
      <p:sp>
        <p:nvSpPr>
          <p:cNvPr id="4" name="Shape 2"/>
          <p:cNvSpPr/>
          <p:nvPr/>
        </p:nvSpPr>
        <p:spPr>
          <a:xfrm>
            <a:off x="403708" y="1691640"/>
            <a:ext cx="2606040" cy="3657600"/>
          </a:xfrm>
          <a:prstGeom prst="roundRect">
            <a:avLst>
              <a:gd name="adj" fmla="val 2807"/>
            </a:avLst>
          </a:prstGeom>
          <a:solidFill>
            <a:srgbClr val="F4F7FD"/>
          </a:solidFill>
          <a:ln/>
          <a:effectLst>
            <a:outerShdw sx="100000" sy="100000" kx="0" ky="0" algn="bl" rotWithShape="0" blurRad="88900" dist="25400" dir="5400000">
              <a:srgbClr val="000000">
                <a:alpha val="10000"/>
              </a:srgbClr>
            </a:outerShdw>
          </a:effectLst>
        </p:spPr>
      </p:sp>
      <p:sp>
        <p:nvSpPr>
          <p:cNvPr id="5" name="Shape 3"/>
          <p:cNvSpPr/>
          <p:nvPr/>
        </p:nvSpPr>
        <p:spPr>
          <a:xfrm>
            <a:off x="1295248" y="1965960"/>
            <a:ext cx="822960" cy="822960"/>
          </a:xfrm>
          <a:prstGeom prst="ellipse">
            <a:avLst/>
          </a:prstGeom>
          <a:solidFill>
            <a:srgbClr val="CADCFC"/>
          </a:solidFill>
          <a:ln/>
        </p:spPr>
      </p:sp>
      <p:pic>
        <p:nvPicPr>
          <p:cNvPr id="6" name="Image 0" descr="preencoded.png">    </p:cNvPr>
          <p:cNvPicPr>
            <a:picLocks noChangeAspect="1"/>
          </p:cNvPicPr>
          <p:nvPr/>
        </p:nvPicPr>
        <p:blipFill>
          <a:blip r:embed="rId1"/>
          <a:stretch>
            <a:fillRect/>
          </a:stretch>
        </p:blipFill>
        <p:spPr>
          <a:xfrm>
            <a:off x="1509217" y="2179930"/>
            <a:ext cx="395021" cy="395021"/>
          </a:xfrm>
          <a:prstGeom prst="rect">
            <a:avLst/>
          </a:prstGeom>
        </p:spPr>
      </p:pic>
      <p:sp>
        <p:nvSpPr>
          <p:cNvPr id="7" name="Text 4"/>
          <p:cNvSpPr/>
          <p:nvPr/>
        </p:nvSpPr>
        <p:spPr>
          <a:xfrm>
            <a:off x="540868" y="2971800"/>
            <a:ext cx="2331720" cy="365760"/>
          </a:xfrm>
          <a:prstGeom prst="rect">
            <a:avLst/>
          </a:prstGeom>
          <a:noFill/>
          <a:ln/>
        </p:spPr>
        <p:txBody>
          <a:bodyPr wrap="square" lIns="0" tIns="0" rIns="0" bIns="0" rtlCol="0" anchor="ctr"/>
          <a:lstStyle/>
          <a:p>
            <a:pPr algn="ctr" indent="0" marL="0">
              <a:buNone/>
            </a:pPr>
            <a:r>
              <a:rPr lang="en-US" sz="1500" b="1" dirty="0">
                <a:solidFill>
                  <a:srgbClr val="1E2761"/>
                </a:solidFill>
                <a:latin typeface="Cambria" pitchFamily="34" charset="0"/>
                <a:ea typeface="Cambria" pitchFamily="34" charset="-122"/>
                <a:cs typeface="Cambria" pitchFamily="34" charset="-120"/>
              </a:rPr>
              <a:t>Schema</a:t>
            </a:r>
            <a:endParaRPr lang="en-US" sz="1500" dirty="0"/>
          </a:p>
        </p:txBody>
      </p:sp>
      <p:sp>
        <p:nvSpPr>
          <p:cNvPr id="8" name="Text 5"/>
          <p:cNvSpPr/>
          <p:nvPr/>
        </p:nvSpPr>
        <p:spPr>
          <a:xfrm>
            <a:off x="540868" y="3337560"/>
            <a:ext cx="2331720" cy="274320"/>
          </a:xfrm>
          <a:prstGeom prst="rect">
            <a:avLst/>
          </a:prstGeom>
          <a:noFill/>
          <a:ln/>
        </p:spPr>
        <p:txBody>
          <a:bodyPr wrap="square" lIns="0" tIns="0" rIns="0" bIns="0" rtlCol="0" anchor="ctr"/>
          <a:lstStyle/>
          <a:p>
            <a:pPr algn="ctr" indent="0" marL="0">
              <a:buNone/>
            </a:pPr>
            <a:r>
              <a:rPr lang="en-US" sz="1050" dirty="0">
                <a:solidFill>
                  <a:srgbClr val="D9A441"/>
                </a:solidFill>
                <a:latin typeface="Courier New" pitchFamily="34" charset="0"/>
                <a:ea typeface="Courier New" pitchFamily="34" charset="-122"/>
                <a:cs typeface="Courier New" pitchFamily="34" charset="-120"/>
              </a:rPr>
              <a:t>schema.json</a:t>
            </a:r>
            <a:endParaRPr lang="en-US" sz="1050" dirty="0"/>
          </a:p>
        </p:txBody>
      </p:sp>
      <p:sp>
        <p:nvSpPr>
          <p:cNvPr id="9" name="Text 6"/>
          <p:cNvSpPr/>
          <p:nvPr/>
        </p:nvSpPr>
        <p:spPr>
          <a:xfrm>
            <a:off x="604876" y="3749040"/>
            <a:ext cx="2203704" cy="1463040"/>
          </a:xfrm>
          <a:prstGeom prst="rect">
            <a:avLst/>
          </a:prstGeom>
          <a:noFill/>
          <a:ln/>
        </p:spPr>
        <p:txBody>
          <a:bodyPr wrap="square" lIns="0" tIns="0" rIns="0" bIns="0" rtlCol="0" anchor="ctr"/>
          <a:lstStyle/>
          <a:p>
            <a:pPr algn="ctr" indent="0" marL="0">
              <a:buNone/>
            </a:pPr>
            <a:r>
              <a:rPr lang="en-US" sz="1080" dirty="0">
                <a:solidFill>
                  <a:srgbClr val="20264A"/>
                </a:solidFill>
                <a:latin typeface="Calibri" pitchFamily="34" charset="0"/>
                <a:ea typeface="Calibri" pitchFamily="34" charset="-122"/>
                <a:cs typeface="Calibri" pitchFamily="34" charset="-120"/>
              </a:rPr>
              <a:t>Defines the data shape: the fields, their types, and any relations.</a:t>
            </a:r>
            <a:endParaRPr lang="en-US" sz="1080" dirty="0"/>
          </a:p>
        </p:txBody>
      </p:sp>
      <p:pic>
        <p:nvPicPr>
          <p:cNvPr id="10" name="Image 1" descr="preencoded.png">    </p:cNvPr>
          <p:cNvPicPr>
            <a:picLocks noChangeAspect="1"/>
          </p:cNvPicPr>
          <p:nvPr/>
        </p:nvPicPr>
        <p:blipFill>
          <a:blip r:embed="rId2"/>
          <a:stretch>
            <a:fillRect/>
          </a:stretch>
        </p:blipFill>
        <p:spPr>
          <a:xfrm>
            <a:off x="3023464" y="3374136"/>
            <a:ext cx="292608" cy="292608"/>
          </a:xfrm>
          <a:prstGeom prst="rect">
            <a:avLst/>
          </a:prstGeom>
        </p:spPr>
      </p:pic>
      <p:sp>
        <p:nvSpPr>
          <p:cNvPr id="11" name="Shape 7"/>
          <p:cNvSpPr/>
          <p:nvPr/>
        </p:nvSpPr>
        <p:spPr>
          <a:xfrm>
            <a:off x="3329788" y="1691640"/>
            <a:ext cx="2606040" cy="3657600"/>
          </a:xfrm>
          <a:prstGeom prst="roundRect">
            <a:avLst>
              <a:gd name="adj" fmla="val 2807"/>
            </a:avLst>
          </a:prstGeom>
          <a:solidFill>
            <a:srgbClr val="F4F7FD"/>
          </a:solidFill>
          <a:ln/>
          <a:effectLst>
            <a:outerShdw sx="100000" sy="100000" kx="0" ky="0" algn="bl" rotWithShape="0" blurRad="88900" dist="25400" dir="5400000">
              <a:srgbClr val="000000">
                <a:alpha val="10000"/>
              </a:srgbClr>
            </a:outerShdw>
          </a:effectLst>
        </p:spPr>
      </p:sp>
      <p:sp>
        <p:nvSpPr>
          <p:cNvPr id="12" name="Shape 8"/>
          <p:cNvSpPr/>
          <p:nvPr/>
        </p:nvSpPr>
        <p:spPr>
          <a:xfrm>
            <a:off x="4221328" y="1965960"/>
            <a:ext cx="822960" cy="822960"/>
          </a:xfrm>
          <a:prstGeom prst="ellipse">
            <a:avLst/>
          </a:prstGeom>
          <a:solidFill>
            <a:srgbClr val="CADCFC"/>
          </a:solidFill>
          <a:ln/>
        </p:spPr>
      </p:sp>
      <p:pic>
        <p:nvPicPr>
          <p:cNvPr id="13" name="Image 2" descr="preencoded.png">    </p:cNvPr>
          <p:cNvPicPr>
            <a:picLocks noChangeAspect="1"/>
          </p:cNvPicPr>
          <p:nvPr/>
        </p:nvPicPr>
        <p:blipFill>
          <a:blip r:embed="rId3"/>
          <a:stretch>
            <a:fillRect/>
          </a:stretch>
        </p:blipFill>
        <p:spPr>
          <a:xfrm>
            <a:off x="4435297" y="2179930"/>
            <a:ext cx="395021" cy="395021"/>
          </a:xfrm>
          <a:prstGeom prst="rect">
            <a:avLst/>
          </a:prstGeom>
        </p:spPr>
      </p:pic>
      <p:sp>
        <p:nvSpPr>
          <p:cNvPr id="14" name="Text 9"/>
          <p:cNvSpPr/>
          <p:nvPr/>
        </p:nvSpPr>
        <p:spPr>
          <a:xfrm>
            <a:off x="3466948" y="2971800"/>
            <a:ext cx="2331720" cy="365760"/>
          </a:xfrm>
          <a:prstGeom prst="rect">
            <a:avLst/>
          </a:prstGeom>
          <a:noFill/>
          <a:ln/>
        </p:spPr>
        <p:txBody>
          <a:bodyPr wrap="square" lIns="0" tIns="0" rIns="0" bIns="0" rtlCol="0" anchor="ctr"/>
          <a:lstStyle/>
          <a:p>
            <a:pPr algn="ctr" indent="0" marL="0">
              <a:buNone/>
            </a:pPr>
            <a:r>
              <a:rPr lang="en-US" sz="1500" b="1" dirty="0">
                <a:solidFill>
                  <a:srgbClr val="1E2761"/>
                </a:solidFill>
                <a:latin typeface="Cambria" pitchFamily="34" charset="0"/>
                <a:ea typeface="Cambria" pitchFamily="34" charset="-122"/>
                <a:cs typeface="Cambria" pitchFamily="34" charset="-120"/>
              </a:rPr>
              <a:t>Routes</a:t>
            </a:r>
            <a:endParaRPr lang="en-US" sz="1500" dirty="0"/>
          </a:p>
        </p:txBody>
      </p:sp>
      <p:sp>
        <p:nvSpPr>
          <p:cNvPr id="15" name="Text 10"/>
          <p:cNvSpPr/>
          <p:nvPr/>
        </p:nvSpPr>
        <p:spPr>
          <a:xfrm>
            <a:off x="3466948" y="3337560"/>
            <a:ext cx="2331720" cy="274320"/>
          </a:xfrm>
          <a:prstGeom prst="rect">
            <a:avLst/>
          </a:prstGeom>
          <a:noFill/>
          <a:ln/>
        </p:spPr>
        <p:txBody>
          <a:bodyPr wrap="square" lIns="0" tIns="0" rIns="0" bIns="0" rtlCol="0" anchor="ctr"/>
          <a:lstStyle/>
          <a:p>
            <a:pPr algn="ctr" indent="0" marL="0">
              <a:buNone/>
            </a:pPr>
            <a:r>
              <a:rPr lang="en-US" sz="1050" dirty="0">
                <a:solidFill>
                  <a:srgbClr val="D9A441"/>
                </a:solidFill>
                <a:latin typeface="Courier New" pitchFamily="34" charset="0"/>
                <a:ea typeface="Courier New" pitchFamily="34" charset="-122"/>
                <a:cs typeface="Courier New" pitchFamily="34" charset="-120"/>
              </a:rPr>
              <a:t>routes/*.ts</a:t>
            </a:r>
            <a:endParaRPr lang="en-US" sz="1050" dirty="0"/>
          </a:p>
        </p:txBody>
      </p:sp>
      <p:sp>
        <p:nvSpPr>
          <p:cNvPr id="16" name="Text 11"/>
          <p:cNvSpPr/>
          <p:nvPr/>
        </p:nvSpPr>
        <p:spPr>
          <a:xfrm>
            <a:off x="3530956" y="3749040"/>
            <a:ext cx="2203704" cy="1463040"/>
          </a:xfrm>
          <a:prstGeom prst="rect">
            <a:avLst/>
          </a:prstGeom>
          <a:noFill/>
          <a:ln/>
        </p:spPr>
        <p:txBody>
          <a:bodyPr wrap="square" lIns="0" tIns="0" rIns="0" bIns="0" rtlCol="0" anchor="ctr"/>
          <a:lstStyle/>
          <a:p>
            <a:pPr algn="ctr" indent="0" marL="0">
              <a:buNone/>
            </a:pPr>
            <a:r>
              <a:rPr lang="en-US" sz="1080" dirty="0">
                <a:solidFill>
                  <a:srgbClr val="20264A"/>
                </a:solidFill>
                <a:latin typeface="Calibri" pitchFamily="34" charset="0"/>
                <a:ea typeface="Calibri" pitchFamily="34" charset="-122"/>
                <a:cs typeface="Calibri" pitchFamily="34" charset="-120"/>
              </a:rPr>
              <a:t>Maps an incoming URL + method to a specific controller handler.</a:t>
            </a:r>
            <a:endParaRPr lang="en-US" sz="1080" dirty="0"/>
          </a:p>
        </p:txBody>
      </p:sp>
      <p:pic>
        <p:nvPicPr>
          <p:cNvPr id="17" name="Image 3" descr="preencoded.png">    </p:cNvPr>
          <p:cNvPicPr>
            <a:picLocks noChangeAspect="1"/>
          </p:cNvPicPr>
          <p:nvPr/>
        </p:nvPicPr>
        <p:blipFill>
          <a:blip r:embed="rId4"/>
          <a:stretch>
            <a:fillRect/>
          </a:stretch>
        </p:blipFill>
        <p:spPr>
          <a:xfrm>
            <a:off x="5949544" y="3374136"/>
            <a:ext cx="292608" cy="292608"/>
          </a:xfrm>
          <a:prstGeom prst="rect">
            <a:avLst/>
          </a:prstGeom>
        </p:spPr>
      </p:pic>
      <p:sp>
        <p:nvSpPr>
          <p:cNvPr id="18" name="Shape 12"/>
          <p:cNvSpPr/>
          <p:nvPr/>
        </p:nvSpPr>
        <p:spPr>
          <a:xfrm>
            <a:off x="6255868" y="1691640"/>
            <a:ext cx="2606040" cy="3657600"/>
          </a:xfrm>
          <a:prstGeom prst="roundRect">
            <a:avLst>
              <a:gd name="adj" fmla="val 2807"/>
            </a:avLst>
          </a:prstGeom>
          <a:solidFill>
            <a:srgbClr val="F4F7FD"/>
          </a:solidFill>
          <a:ln/>
          <a:effectLst>
            <a:outerShdw sx="100000" sy="100000" kx="0" ky="0" algn="bl" rotWithShape="0" blurRad="88900" dist="25400" dir="5400000">
              <a:srgbClr val="000000">
                <a:alpha val="10000"/>
              </a:srgbClr>
            </a:outerShdw>
          </a:effectLst>
        </p:spPr>
      </p:sp>
      <p:sp>
        <p:nvSpPr>
          <p:cNvPr id="19" name="Shape 13"/>
          <p:cNvSpPr/>
          <p:nvPr/>
        </p:nvSpPr>
        <p:spPr>
          <a:xfrm>
            <a:off x="7147408" y="1965960"/>
            <a:ext cx="822960" cy="822960"/>
          </a:xfrm>
          <a:prstGeom prst="ellipse">
            <a:avLst/>
          </a:prstGeom>
          <a:solidFill>
            <a:srgbClr val="CADCFC"/>
          </a:solidFill>
          <a:ln/>
        </p:spPr>
      </p:sp>
      <p:pic>
        <p:nvPicPr>
          <p:cNvPr id="20" name="Image 4" descr="preencoded.png">    </p:cNvPr>
          <p:cNvPicPr>
            <a:picLocks noChangeAspect="1"/>
          </p:cNvPicPr>
          <p:nvPr/>
        </p:nvPicPr>
        <p:blipFill>
          <a:blip r:embed="rId5"/>
          <a:stretch>
            <a:fillRect/>
          </a:stretch>
        </p:blipFill>
        <p:spPr>
          <a:xfrm>
            <a:off x="7361377" y="2179930"/>
            <a:ext cx="395021" cy="395021"/>
          </a:xfrm>
          <a:prstGeom prst="rect">
            <a:avLst/>
          </a:prstGeom>
        </p:spPr>
      </p:pic>
      <p:sp>
        <p:nvSpPr>
          <p:cNvPr id="21" name="Text 14"/>
          <p:cNvSpPr/>
          <p:nvPr/>
        </p:nvSpPr>
        <p:spPr>
          <a:xfrm>
            <a:off x="6393028" y="2971800"/>
            <a:ext cx="2331720" cy="365760"/>
          </a:xfrm>
          <a:prstGeom prst="rect">
            <a:avLst/>
          </a:prstGeom>
          <a:noFill/>
          <a:ln/>
        </p:spPr>
        <p:txBody>
          <a:bodyPr wrap="square" lIns="0" tIns="0" rIns="0" bIns="0" rtlCol="0" anchor="ctr"/>
          <a:lstStyle/>
          <a:p>
            <a:pPr algn="ctr" indent="0" marL="0">
              <a:buNone/>
            </a:pPr>
            <a:r>
              <a:rPr lang="en-US" sz="1500" b="1" dirty="0">
                <a:solidFill>
                  <a:srgbClr val="1E2761"/>
                </a:solidFill>
                <a:latin typeface="Cambria" pitchFamily="34" charset="0"/>
                <a:ea typeface="Cambria" pitchFamily="34" charset="-122"/>
                <a:cs typeface="Cambria" pitchFamily="34" charset="-120"/>
              </a:rPr>
              <a:t>Controller</a:t>
            </a:r>
            <a:endParaRPr lang="en-US" sz="1500" dirty="0"/>
          </a:p>
        </p:txBody>
      </p:sp>
      <p:sp>
        <p:nvSpPr>
          <p:cNvPr id="22" name="Text 15"/>
          <p:cNvSpPr/>
          <p:nvPr/>
        </p:nvSpPr>
        <p:spPr>
          <a:xfrm>
            <a:off x="6393028" y="3337560"/>
            <a:ext cx="2331720" cy="274320"/>
          </a:xfrm>
          <a:prstGeom prst="rect">
            <a:avLst/>
          </a:prstGeom>
          <a:noFill/>
          <a:ln/>
        </p:spPr>
        <p:txBody>
          <a:bodyPr wrap="square" lIns="0" tIns="0" rIns="0" bIns="0" rtlCol="0" anchor="ctr"/>
          <a:lstStyle/>
          <a:p>
            <a:pPr algn="ctr" indent="0" marL="0">
              <a:buNone/>
            </a:pPr>
            <a:r>
              <a:rPr lang="en-US" sz="1050" dirty="0">
                <a:solidFill>
                  <a:srgbClr val="D9A441"/>
                </a:solidFill>
                <a:latin typeface="Courier New" pitchFamily="34" charset="0"/>
                <a:ea typeface="Courier New" pitchFamily="34" charset="-122"/>
                <a:cs typeface="Courier New" pitchFamily="34" charset="-120"/>
              </a:rPr>
              <a:t>controllers/*.ts</a:t>
            </a:r>
            <a:endParaRPr lang="en-US" sz="1050" dirty="0"/>
          </a:p>
        </p:txBody>
      </p:sp>
      <p:sp>
        <p:nvSpPr>
          <p:cNvPr id="23" name="Text 16"/>
          <p:cNvSpPr/>
          <p:nvPr/>
        </p:nvSpPr>
        <p:spPr>
          <a:xfrm>
            <a:off x="6457036" y="3749040"/>
            <a:ext cx="2203704" cy="1463040"/>
          </a:xfrm>
          <a:prstGeom prst="rect">
            <a:avLst/>
          </a:prstGeom>
          <a:noFill/>
          <a:ln/>
        </p:spPr>
        <p:txBody>
          <a:bodyPr wrap="square" lIns="0" tIns="0" rIns="0" bIns="0" rtlCol="0" anchor="ctr"/>
          <a:lstStyle/>
          <a:p>
            <a:pPr algn="ctr" indent="0" marL="0">
              <a:buNone/>
            </a:pPr>
            <a:r>
              <a:rPr lang="en-US" sz="1080" dirty="0">
                <a:solidFill>
                  <a:srgbClr val="20264A"/>
                </a:solidFill>
                <a:latin typeface="Calibri" pitchFamily="34" charset="0"/>
                <a:ea typeface="Calibri" pitchFamily="34" charset="-122"/>
                <a:cs typeface="Calibri" pitchFamily="34" charset="-120"/>
              </a:rPr>
              <a:t>Shapes the request &amp; response. This is where navigator and template-screen's custom logic lives.</a:t>
            </a:r>
            <a:endParaRPr lang="en-US" sz="1080" dirty="0"/>
          </a:p>
        </p:txBody>
      </p:sp>
      <p:pic>
        <p:nvPicPr>
          <p:cNvPr id="24" name="Image 5" descr="preencoded.png">    </p:cNvPr>
          <p:cNvPicPr>
            <a:picLocks noChangeAspect="1"/>
          </p:cNvPicPr>
          <p:nvPr/>
        </p:nvPicPr>
        <p:blipFill>
          <a:blip r:embed="rId6"/>
          <a:stretch>
            <a:fillRect/>
          </a:stretch>
        </p:blipFill>
        <p:spPr>
          <a:xfrm>
            <a:off x="8875624" y="3374136"/>
            <a:ext cx="292608" cy="292608"/>
          </a:xfrm>
          <a:prstGeom prst="rect">
            <a:avLst/>
          </a:prstGeom>
        </p:spPr>
      </p:pic>
      <p:sp>
        <p:nvSpPr>
          <p:cNvPr id="25" name="Shape 17"/>
          <p:cNvSpPr/>
          <p:nvPr/>
        </p:nvSpPr>
        <p:spPr>
          <a:xfrm>
            <a:off x="9181948" y="1691640"/>
            <a:ext cx="2606040" cy="3657600"/>
          </a:xfrm>
          <a:prstGeom prst="roundRect">
            <a:avLst>
              <a:gd name="adj" fmla="val 2807"/>
            </a:avLst>
          </a:prstGeom>
          <a:solidFill>
            <a:srgbClr val="F4F7FD"/>
          </a:solidFill>
          <a:ln/>
          <a:effectLst>
            <a:outerShdw sx="100000" sy="100000" kx="0" ky="0" algn="bl" rotWithShape="0" blurRad="88900" dist="25400" dir="5400000">
              <a:srgbClr val="000000">
                <a:alpha val="10000"/>
              </a:srgbClr>
            </a:outerShdw>
          </a:effectLst>
        </p:spPr>
      </p:sp>
      <p:sp>
        <p:nvSpPr>
          <p:cNvPr id="26" name="Shape 18"/>
          <p:cNvSpPr/>
          <p:nvPr/>
        </p:nvSpPr>
        <p:spPr>
          <a:xfrm>
            <a:off x="10073488" y="1965960"/>
            <a:ext cx="822960" cy="822960"/>
          </a:xfrm>
          <a:prstGeom prst="ellipse">
            <a:avLst/>
          </a:prstGeom>
          <a:solidFill>
            <a:srgbClr val="CADCFC"/>
          </a:solidFill>
          <a:ln/>
        </p:spPr>
      </p:sp>
      <p:pic>
        <p:nvPicPr>
          <p:cNvPr id="27" name="Image 6" descr="preencoded.png">    </p:cNvPr>
          <p:cNvPicPr>
            <a:picLocks noChangeAspect="1"/>
          </p:cNvPicPr>
          <p:nvPr/>
        </p:nvPicPr>
        <p:blipFill>
          <a:blip r:embed="rId7"/>
          <a:stretch>
            <a:fillRect/>
          </a:stretch>
        </p:blipFill>
        <p:spPr>
          <a:xfrm>
            <a:off x="10287457" y="2179930"/>
            <a:ext cx="395021" cy="395021"/>
          </a:xfrm>
          <a:prstGeom prst="rect">
            <a:avLst/>
          </a:prstGeom>
        </p:spPr>
      </p:pic>
      <p:sp>
        <p:nvSpPr>
          <p:cNvPr id="28" name="Text 19"/>
          <p:cNvSpPr/>
          <p:nvPr/>
        </p:nvSpPr>
        <p:spPr>
          <a:xfrm>
            <a:off x="9319108" y="2971800"/>
            <a:ext cx="2331720" cy="365760"/>
          </a:xfrm>
          <a:prstGeom prst="rect">
            <a:avLst/>
          </a:prstGeom>
          <a:noFill/>
          <a:ln/>
        </p:spPr>
        <p:txBody>
          <a:bodyPr wrap="square" lIns="0" tIns="0" rIns="0" bIns="0" rtlCol="0" anchor="ctr"/>
          <a:lstStyle/>
          <a:p>
            <a:pPr algn="ctr" indent="0" marL="0">
              <a:buNone/>
            </a:pPr>
            <a:r>
              <a:rPr lang="en-US" sz="1500" b="1" dirty="0">
                <a:solidFill>
                  <a:srgbClr val="1E2761"/>
                </a:solidFill>
                <a:latin typeface="Cambria" pitchFamily="34" charset="0"/>
                <a:ea typeface="Cambria" pitchFamily="34" charset="-122"/>
                <a:cs typeface="Cambria" pitchFamily="34" charset="-120"/>
              </a:rPr>
              <a:t>Service</a:t>
            </a:r>
            <a:endParaRPr lang="en-US" sz="1500" dirty="0"/>
          </a:p>
        </p:txBody>
      </p:sp>
      <p:sp>
        <p:nvSpPr>
          <p:cNvPr id="29" name="Text 20"/>
          <p:cNvSpPr/>
          <p:nvPr/>
        </p:nvSpPr>
        <p:spPr>
          <a:xfrm>
            <a:off x="9319108" y="3337560"/>
            <a:ext cx="2331720" cy="274320"/>
          </a:xfrm>
          <a:prstGeom prst="rect">
            <a:avLst/>
          </a:prstGeom>
          <a:noFill/>
          <a:ln/>
        </p:spPr>
        <p:txBody>
          <a:bodyPr wrap="square" lIns="0" tIns="0" rIns="0" bIns="0" rtlCol="0" anchor="ctr"/>
          <a:lstStyle/>
          <a:p>
            <a:pPr algn="ctr" indent="0" marL="0">
              <a:buNone/>
            </a:pPr>
            <a:r>
              <a:rPr lang="en-US" sz="1050" dirty="0">
                <a:solidFill>
                  <a:srgbClr val="D9A441"/>
                </a:solidFill>
                <a:latin typeface="Courier New" pitchFamily="34" charset="0"/>
                <a:ea typeface="Courier New" pitchFamily="34" charset="-122"/>
                <a:cs typeface="Courier New" pitchFamily="34" charset="-120"/>
              </a:rPr>
              <a:t>services/*.ts</a:t>
            </a:r>
            <a:endParaRPr lang="en-US" sz="1050" dirty="0"/>
          </a:p>
        </p:txBody>
      </p:sp>
      <p:sp>
        <p:nvSpPr>
          <p:cNvPr id="30" name="Text 21"/>
          <p:cNvSpPr/>
          <p:nvPr/>
        </p:nvSpPr>
        <p:spPr>
          <a:xfrm>
            <a:off x="9383116" y="3749040"/>
            <a:ext cx="2203704" cy="1463040"/>
          </a:xfrm>
          <a:prstGeom prst="rect">
            <a:avLst/>
          </a:prstGeom>
          <a:noFill/>
          <a:ln/>
        </p:spPr>
        <p:txBody>
          <a:bodyPr wrap="square" lIns="0" tIns="0" rIns="0" bIns="0" rtlCol="0" anchor="ctr"/>
          <a:lstStyle/>
          <a:p>
            <a:pPr algn="ctr" indent="0" marL="0">
              <a:buNone/>
            </a:pPr>
            <a:r>
              <a:rPr lang="en-US" sz="1080" dirty="0">
                <a:solidFill>
                  <a:srgbClr val="20264A"/>
                </a:solidFill>
                <a:latin typeface="Calibri" pitchFamily="34" charset="0"/>
                <a:ea typeface="Calibri" pitchFamily="34" charset="-122"/>
                <a:cs typeface="Calibri" pitchFamily="34" charset="-120"/>
              </a:rPr>
              <a:t>The reusable data-access layer underneath — defaults to Strapi's Document Service.</a:t>
            </a:r>
            <a:endParaRPr lang="en-US" sz="1080" dirty="0"/>
          </a:p>
        </p:txBody>
      </p:sp>
      <p:sp>
        <p:nvSpPr>
          <p:cNvPr id="31" name="Shape 22"/>
          <p:cNvSpPr/>
          <p:nvPr/>
        </p:nvSpPr>
        <p:spPr>
          <a:xfrm>
            <a:off x="548640" y="5577840"/>
            <a:ext cx="11094415" cy="685800"/>
          </a:xfrm>
          <a:prstGeom prst="roundRect">
            <a:avLst>
              <a:gd name="adj" fmla="val 10667"/>
            </a:avLst>
          </a:prstGeom>
          <a:solidFill>
            <a:srgbClr val="CADCFC"/>
          </a:solidFill>
          <a:ln/>
          <a:effectLst>
            <a:outerShdw sx="100000" sy="100000" kx="0" ky="0" algn="bl" rotWithShape="0" blurRad="88900" dist="25400" dir="5400000">
              <a:srgbClr val="000000">
                <a:alpha val="10000"/>
              </a:srgbClr>
            </a:outerShdw>
          </a:effectLst>
        </p:spPr>
      </p:sp>
      <p:sp>
        <p:nvSpPr>
          <p:cNvPr id="32" name="Text 23"/>
          <p:cNvSpPr/>
          <p:nvPr/>
        </p:nvSpPr>
        <p:spPr>
          <a:xfrm>
            <a:off x="822960" y="5577840"/>
            <a:ext cx="10545775" cy="685800"/>
          </a:xfrm>
          <a:prstGeom prst="rect">
            <a:avLst/>
          </a:prstGeom>
          <a:noFill/>
          <a:ln/>
        </p:spPr>
        <p:txBody>
          <a:bodyPr wrap="square" lIns="0" tIns="0" rIns="0" bIns="0"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navigator and template-screen both customize the Controller and Routes layers — the next slides show why.</a:t>
            </a:r>
            <a:endParaRPr lang="en-US" sz="1250" dirty="0"/>
          </a:p>
        </p:txBody>
      </p:sp>
      <p:sp>
        <p:nvSpPr>
          <p:cNvPr id="33" name="Text 24"/>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34" name="Text 25"/>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INTEGRATION SHAPE</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Where These APIs Fit</a:t>
            </a:r>
            <a:endParaRPr lang="en-US" sz="3000" dirty="0"/>
          </a:p>
        </p:txBody>
      </p:sp>
      <p:sp>
        <p:nvSpPr>
          <p:cNvPr id="4" name="Text 2"/>
          <p:cNvSpPr/>
          <p:nvPr/>
        </p:nvSpPr>
        <p:spPr>
          <a:xfrm>
            <a:off x="548640" y="1371600"/>
            <a:ext cx="11094415" cy="548640"/>
          </a:xfrm>
          <a:prstGeom prst="rect">
            <a:avLst/>
          </a:prstGeom>
          <a:noFill/>
          <a:ln/>
        </p:spPr>
        <p:txBody>
          <a:bodyPr wrap="square" lIns="0" tIns="0" rIns="0" bIns="0" rtlCol="0" anchor="ctr"/>
          <a:lstStyle/>
          <a:p>
            <a:pPr indent="0" marL="0">
              <a:buNone/>
            </a:pPr>
            <a:r>
              <a:rPr lang="en-US" sz="1450" dirty="0">
                <a:solidFill>
                  <a:srgbClr val="20264A"/>
                </a:solidFill>
                <a:latin typeface="Calibri" pitchFamily="34" charset="0"/>
                <a:ea typeface="Calibri" pitchFamily="34" charset="-122"/>
                <a:cs typeface="Calibri" pitchFamily="34" charset="-120"/>
              </a:rPr>
              <a:t>The app talks to two backends directly and independently — there is no proxy between them, and neither backend calls the other.</a:t>
            </a:r>
            <a:endParaRPr lang="en-US" sz="1450" dirty="0"/>
          </a:p>
        </p:txBody>
      </p:sp>
      <p:sp>
        <p:nvSpPr>
          <p:cNvPr id="5" name="Shape 3"/>
          <p:cNvSpPr/>
          <p:nvPr/>
        </p:nvSpPr>
        <p:spPr>
          <a:xfrm>
            <a:off x="4907128" y="2286000"/>
            <a:ext cx="2377440" cy="914400"/>
          </a:xfrm>
          <a:prstGeom prst="roundRect">
            <a:avLst>
              <a:gd name="adj" fmla="val 8000"/>
            </a:avLst>
          </a:prstGeom>
          <a:solidFill>
            <a:srgbClr val="1E2761"/>
          </a:solidFill>
          <a:ln/>
          <a:effectLst>
            <a:outerShdw sx="100000" sy="100000" kx="0" ky="0" algn="bl" rotWithShape="0" blurRad="88900" dist="25400" dir="5400000">
              <a:srgbClr val="000000">
                <a:alpha val="10000"/>
              </a:srgbClr>
            </a:outerShdw>
          </a:effectLst>
        </p:spPr>
      </p:sp>
      <p:sp>
        <p:nvSpPr>
          <p:cNvPr id="6" name="Shape 4"/>
          <p:cNvSpPr/>
          <p:nvPr/>
        </p:nvSpPr>
        <p:spPr>
          <a:xfrm>
            <a:off x="5090008" y="2468880"/>
            <a:ext cx="548640" cy="548640"/>
          </a:xfrm>
          <a:prstGeom prst="ellipse">
            <a:avLst/>
          </a:prstGeom>
          <a:solidFill>
            <a:srgbClr val="16204A"/>
          </a:solidFill>
          <a:ln/>
        </p:spPr>
      </p:sp>
      <p:pic>
        <p:nvPicPr>
          <p:cNvPr id="7" name="Image 0" descr="preencoded.png">    </p:cNvPr>
          <p:cNvPicPr>
            <a:picLocks noChangeAspect="1"/>
          </p:cNvPicPr>
          <p:nvPr/>
        </p:nvPicPr>
        <p:blipFill>
          <a:blip r:embed="rId1"/>
          <a:stretch>
            <a:fillRect/>
          </a:stretch>
        </p:blipFill>
        <p:spPr>
          <a:xfrm>
            <a:off x="5232654" y="2611526"/>
            <a:ext cx="263347" cy="263347"/>
          </a:xfrm>
          <a:prstGeom prst="rect">
            <a:avLst/>
          </a:prstGeom>
        </p:spPr>
      </p:pic>
      <p:sp>
        <p:nvSpPr>
          <p:cNvPr id="8" name="Text 5"/>
          <p:cNvSpPr/>
          <p:nvPr/>
        </p:nvSpPr>
        <p:spPr>
          <a:xfrm>
            <a:off x="5775808" y="2286000"/>
            <a:ext cx="1371600" cy="9144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RN App</a:t>
            </a:r>
            <a:endParaRPr lang="en-US" sz="1600" dirty="0"/>
          </a:p>
        </p:txBody>
      </p:sp>
      <p:sp>
        <p:nvSpPr>
          <p:cNvPr id="9" name="Shape 6"/>
          <p:cNvSpPr/>
          <p:nvPr/>
        </p:nvSpPr>
        <p:spPr>
          <a:xfrm>
            <a:off x="365760" y="4206240"/>
            <a:ext cx="3291840" cy="1371600"/>
          </a:xfrm>
          <a:prstGeom prst="roundRect">
            <a:avLst>
              <a:gd name="adj" fmla="val 5333"/>
            </a:avLst>
          </a:prstGeom>
          <a:solidFill>
            <a:srgbClr val="CADCFC"/>
          </a:solidFill>
          <a:ln/>
          <a:effectLst>
            <a:outerShdw sx="100000" sy="100000" kx="0" ky="0" algn="bl" rotWithShape="0" blurRad="88900" dist="25400" dir="5400000">
              <a:srgbClr val="000000">
                <a:alpha val="10000"/>
              </a:srgbClr>
            </a:outerShdw>
          </a:effectLst>
        </p:spPr>
      </p:sp>
      <p:sp>
        <p:nvSpPr>
          <p:cNvPr id="10" name="Shape 7"/>
          <p:cNvSpPr/>
          <p:nvPr/>
        </p:nvSpPr>
        <p:spPr>
          <a:xfrm>
            <a:off x="594360" y="4480560"/>
            <a:ext cx="822960" cy="82296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808330" y="4694530"/>
            <a:ext cx="395021" cy="395021"/>
          </a:xfrm>
          <a:prstGeom prst="rect">
            <a:avLst/>
          </a:prstGeom>
        </p:spPr>
      </p:pic>
      <p:sp>
        <p:nvSpPr>
          <p:cNvPr id="12" name="Text 8"/>
          <p:cNvSpPr/>
          <p:nvPr/>
        </p:nvSpPr>
        <p:spPr>
          <a:xfrm>
            <a:off x="1554480" y="4526280"/>
            <a:ext cx="1920240" cy="8229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CMS (Strapi)</a:t>
            </a:r>
            <a:endParaRPr lang="en-US" sz="1400" dirty="0"/>
          </a:p>
          <a:p>
            <a:pPr indent="0" marL="0">
              <a:buNone/>
            </a:pPr>
            <a:r>
              <a:rPr lang="en-US" sz="1100" dirty="0">
                <a:solidFill>
                  <a:srgbClr val="5B6B8C"/>
                </a:solidFill>
                <a:latin typeface="Calibri" pitchFamily="34" charset="0"/>
                <a:ea typeface="Calibri" pitchFamily="34" charset="-122"/>
                <a:cs typeface="Calibri" pitchFamily="34" charset="-120"/>
              </a:rPr>
              <a:t>Read-only content</a:t>
            </a:r>
            <a:endParaRPr lang="en-US" sz="1400" dirty="0"/>
          </a:p>
        </p:txBody>
      </p:sp>
      <p:sp>
        <p:nvSpPr>
          <p:cNvPr id="13" name="Shape 9"/>
          <p:cNvSpPr/>
          <p:nvPr/>
        </p:nvSpPr>
        <p:spPr>
          <a:xfrm>
            <a:off x="8534095" y="4206240"/>
            <a:ext cx="3291840" cy="1371600"/>
          </a:xfrm>
          <a:prstGeom prst="roundRect">
            <a:avLst>
              <a:gd name="adj" fmla="val 5333"/>
            </a:avLst>
          </a:prstGeom>
          <a:solidFill>
            <a:srgbClr val="F4F7FD"/>
          </a:solidFill>
          <a:ln/>
          <a:effectLst>
            <a:outerShdw sx="100000" sy="100000" kx="0" ky="0" algn="bl" rotWithShape="0" blurRad="88900" dist="25400" dir="5400000">
              <a:srgbClr val="000000">
                <a:alpha val="10000"/>
              </a:srgbClr>
            </a:outerShdw>
          </a:effectLst>
        </p:spPr>
      </p:sp>
      <p:sp>
        <p:nvSpPr>
          <p:cNvPr id="14" name="Shape 10"/>
          <p:cNvSpPr/>
          <p:nvPr/>
        </p:nvSpPr>
        <p:spPr>
          <a:xfrm>
            <a:off x="8762695" y="4480560"/>
            <a:ext cx="822960" cy="822960"/>
          </a:xfrm>
          <a:prstGeom prst="ellipse">
            <a:avLst/>
          </a:prstGeom>
          <a:solidFill>
            <a:srgbClr val="CADCFC"/>
          </a:solidFill>
          <a:ln/>
        </p:spPr>
      </p:sp>
      <p:pic>
        <p:nvPicPr>
          <p:cNvPr id="15" name="Image 2" descr="preencoded.png">    </p:cNvPr>
          <p:cNvPicPr>
            <a:picLocks noChangeAspect="1"/>
          </p:cNvPicPr>
          <p:nvPr/>
        </p:nvPicPr>
        <p:blipFill>
          <a:blip r:embed="rId3"/>
          <a:stretch>
            <a:fillRect/>
          </a:stretch>
        </p:blipFill>
        <p:spPr>
          <a:xfrm>
            <a:off x="8976665" y="4694530"/>
            <a:ext cx="395021" cy="395021"/>
          </a:xfrm>
          <a:prstGeom prst="rect">
            <a:avLst/>
          </a:prstGeom>
        </p:spPr>
      </p:pic>
      <p:sp>
        <p:nvSpPr>
          <p:cNvPr id="16" name="Text 11"/>
          <p:cNvSpPr/>
          <p:nvPr/>
        </p:nvSpPr>
        <p:spPr>
          <a:xfrm>
            <a:off x="9722815" y="4526280"/>
            <a:ext cx="1920240" cy="8229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Orchestrator (BE)</a:t>
            </a:r>
            <a:endParaRPr lang="en-US" sz="1400" dirty="0"/>
          </a:p>
          <a:p>
            <a:pPr indent="0" marL="0">
              <a:buNone/>
            </a:pPr>
            <a:r>
              <a:rPr lang="en-US" sz="1100" dirty="0">
                <a:solidFill>
                  <a:srgbClr val="5B6B8C"/>
                </a:solidFill>
                <a:latin typeface="Calibri" pitchFamily="34" charset="0"/>
                <a:ea typeface="Calibri" pitchFamily="34" charset="-122"/>
                <a:cs typeface="Calibri" pitchFamily="34" charset="-120"/>
              </a:rPr>
              <a:t>Journey state machine</a:t>
            </a:r>
            <a:endParaRPr lang="en-US" sz="1400" dirty="0"/>
          </a:p>
        </p:txBody>
      </p:sp>
      <p:sp>
        <p:nvSpPr>
          <p:cNvPr id="17" name="Shape 12"/>
          <p:cNvSpPr/>
          <p:nvPr/>
        </p:nvSpPr>
        <p:spPr>
          <a:xfrm>
            <a:off x="2286000" y="3886200"/>
            <a:ext cx="3261208" cy="0"/>
          </a:xfrm>
          <a:prstGeom prst="line">
            <a:avLst/>
          </a:prstGeom>
          <a:noFill/>
          <a:ln w="22225">
            <a:solidFill>
              <a:srgbClr val="D9A441"/>
            </a:solidFill>
            <a:prstDash val="solid"/>
          </a:ln>
        </p:spPr>
      </p:sp>
      <p:sp>
        <p:nvSpPr>
          <p:cNvPr id="18" name="Text 13"/>
          <p:cNvSpPr/>
          <p:nvPr/>
        </p:nvSpPr>
        <p:spPr>
          <a:xfrm>
            <a:off x="2304288" y="3785616"/>
            <a:ext cx="201168" cy="201168"/>
          </a:xfrm>
          <a:prstGeom prst="rect">
            <a:avLst/>
          </a:prstGeom>
          <a:noFill/>
          <a:ln/>
        </p:spPr>
        <p:txBody>
          <a:bodyPr wrap="square" lIns="0" tIns="0" rIns="0" bIns="0" rtlCol="0" anchor="ctr"/>
          <a:lstStyle/>
          <a:p>
            <a:pPr algn="ctr" indent="0" marL="0">
              <a:buNone/>
            </a:pPr>
            <a:r>
              <a:rPr lang="en-US" sz="1300" dirty="0">
                <a:solidFill>
                  <a:srgbClr val="D9A441"/>
                </a:solidFill>
              </a:rPr>
              <a:t>◂</a:t>
            </a:r>
            <a:endParaRPr lang="en-US" sz="1300" dirty="0"/>
          </a:p>
        </p:txBody>
      </p:sp>
      <p:sp>
        <p:nvSpPr>
          <p:cNvPr id="19" name="Text 14"/>
          <p:cNvSpPr/>
          <p:nvPr/>
        </p:nvSpPr>
        <p:spPr>
          <a:xfrm>
            <a:off x="2423160" y="3593592"/>
            <a:ext cx="2895448" cy="256032"/>
          </a:xfrm>
          <a:prstGeom prst="rect">
            <a:avLst/>
          </a:prstGeom>
          <a:noFill/>
          <a:ln/>
        </p:spPr>
        <p:txBody>
          <a:bodyPr wrap="square" lIns="0" tIns="0" rIns="0" bIns="0" rtlCol="0" anchor="ctr"/>
          <a:lstStyle/>
          <a:p>
            <a:pPr algn="r" indent="0" marL="0">
              <a:buNone/>
            </a:pPr>
            <a:r>
              <a:rPr lang="en-US" sz="1150" b="1" dirty="0">
                <a:solidFill>
                  <a:srgbClr val="20264A"/>
                </a:solidFill>
                <a:latin typeface="Calibri" pitchFamily="34" charset="0"/>
                <a:ea typeface="Calibri" pitchFamily="34" charset="-122"/>
                <a:cs typeface="Calibri" pitchFamily="34" charset="-120"/>
              </a:rPr>
              <a:t>GET  navigator, template-screens</a:t>
            </a:r>
            <a:endParaRPr lang="en-US" sz="1150" dirty="0"/>
          </a:p>
        </p:txBody>
      </p:sp>
      <p:sp>
        <p:nvSpPr>
          <p:cNvPr id="20" name="Shape 15"/>
          <p:cNvSpPr/>
          <p:nvPr/>
        </p:nvSpPr>
        <p:spPr>
          <a:xfrm>
            <a:off x="6644488" y="3886200"/>
            <a:ext cx="3261208" cy="0"/>
          </a:xfrm>
          <a:prstGeom prst="line">
            <a:avLst/>
          </a:prstGeom>
          <a:noFill/>
          <a:ln w="22225">
            <a:solidFill>
              <a:srgbClr val="5B6B8C"/>
            </a:solidFill>
            <a:prstDash val="solid"/>
          </a:ln>
        </p:spPr>
      </p:sp>
      <p:sp>
        <p:nvSpPr>
          <p:cNvPr id="21" name="Text 16"/>
          <p:cNvSpPr/>
          <p:nvPr/>
        </p:nvSpPr>
        <p:spPr>
          <a:xfrm>
            <a:off x="9704527" y="3785616"/>
            <a:ext cx="201168" cy="201168"/>
          </a:xfrm>
          <a:prstGeom prst="rect">
            <a:avLst/>
          </a:prstGeom>
          <a:noFill/>
          <a:ln/>
        </p:spPr>
        <p:txBody>
          <a:bodyPr wrap="square" lIns="0" tIns="0" rIns="0" bIns="0" rtlCol="0" anchor="ctr"/>
          <a:lstStyle/>
          <a:p>
            <a:pPr algn="ctr" indent="0" marL="0">
              <a:buNone/>
            </a:pPr>
            <a:r>
              <a:rPr lang="en-US" sz="1300" dirty="0">
                <a:solidFill>
                  <a:srgbClr val="5B6B8C"/>
                </a:solidFill>
              </a:rPr>
              <a:t>▸</a:t>
            </a:r>
            <a:endParaRPr lang="en-US" sz="1300" dirty="0"/>
          </a:p>
        </p:txBody>
      </p:sp>
      <p:sp>
        <p:nvSpPr>
          <p:cNvPr id="22" name="Text 17"/>
          <p:cNvSpPr/>
          <p:nvPr/>
        </p:nvSpPr>
        <p:spPr>
          <a:xfrm>
            <a:off x="6781648" y="3593592"/>
            <a:ext cx="2895448" cy="256032"/>
          </a:xfrm>
          <a:prstGeom prst="rect">
            <a:avLst/>
          </a:prstGeom>
          <a:noFill/>
          <a:ln/>
        </p:spPr>
        <p:txBody>
          <a:bodyPr wrap="square" lIns="0" tIns="0" rIns="0" bIns="0" rtlCol="0" anchor="ctr"/>
          <a:lstStyle/>
          <a:p>
            <a:pPr algn="l" indent="0" marL="0">
              <a:buNone/>
            </a:pPr>
            <a:r>
              <a:rPr lang="en-US" sz="1150" dirty="0">
                <a:solidFill>
                  <a:srgbClr val="20264A"/>
                </a:solidFill>
                <a:latin typeface="Calibri" pitchFamily="34" charset="0"/>
                <a:ea typeface="Calibri" pitchFamily="34" charset="-122"/>
                <a:cs typeface="Calibri" pitchFamily="34" charset="-120"/>
              </a:rPr>
              <a:t>start / submit journey</a:t>
            </a:r>
            <a:endParaRPr lang="en-US" sz="1150" dirty="0"/>
          </a:p>
        </p:txBody>
      </p:sp>
      <p:sp>
        <p:nvSpPr>
          <p:cNvPr id="23" name="Shape 18"/>
          <p:cNvSpPr/>
          <p:nvPr/>
        </p:nvSpPr>
        <p:spPr>
          <a:xfrm>
            <a:off x="822960" y="5806440"/>
            <a:ext cx="10545775" cy="685800"/>
          </a:xfrm>
          <a:prstGeom prst="roundRect">
            <a:avLst>
              <a:gd name="adj" fmla="val 10667"/>
            </a:avLst>
          </a:prstGeom>
          <a:solidFill>
            <a:srgbClr val="F4F7FD"/>
          </a:solidFill>
          <a:ln/>
          <a:effectLst>
            <a:outerShdw sx="100000" sy="100000" kx="0" ky="0" algn="bl" rotWithShape="0" blurRad="88900" dist="25400" dir="5400000">
              <a:srgbClr val="000000">
                <a:alpha val="10000"/>
              </a:srgbClr>
            </a:outerShdw>
          </a:effectLst>
        </p:spPr>
      </p:sp>
      <p:sp>
        <p:nvSpPr>
          <p:cNvPr id="24" name="Text 19"/>
          <p:cNvSpPr/>
          <p:nvPr/>
        </p:nvSpPr>
        <p:spPr>
          <a:xfrm>
            <a:off x="1097280" y="5806440"/>
            <a:ext cx="9997135" cy="685800"/>
          </a:xfrm>
          <a:prstGeom prst="rect">
            <a:avLst/>
          </a:prstGeom>
          <a:noFill/>
          <a:ln/>
        </p:spPr>
        <p:txBody>
          <a:bodyPr wrap="square" lIns="0" tIns="0" rIns="0" bIns="0" rtlCol="0" anchor="ctr"/>
          <a:lstStyle/>
          <a:p>
            <a:pPr indent="0" marL="0">
              <a:buNone/>
            </a:pPr>
            <a:r>
              <a:rPr lang="en-US" sz="1250" i="1" dirty="0">
                <a:solidFill>
                  <a:srgbClr val="20264A"/>
                </a:solidFill>
                <a:latin typeface="Calibri" pitchFamily="34" charset="0"/>
                <a:ea typeface="Calibri" pitchFamily="34" charset="-122"/>
                <a:cs typeface="Calibri" pitchFamily="34" charset="-120"/>
              </a:rPr>
              <a:t>What content to show comes from the CMS. What step the user is on comes from the Orchestrator. The app is the one stitching both together, screen by screen.</a:t>
            </a:r>
            <a:endParaRPr lang="en-US" sz="1250" dirty="0"/>
          </a:p>
        </p:txBody>
      </p:sp>
      <p:sp>
        <p:nvSpPr>
          <p:cNvPr id="25" name="Text 2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26" name="Text 21"/>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INTEGRATION SHAPE</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Two CMS Endpoints, at a Glance</a:t>
            </a:r>
            <a:endParaRPr lang="en-US" sz="3000" dirty="0"/>
          </a:p>
        </p:txBody>
      </p:sp>
      <p:sp>
        <p:nvSpPr>
          <p:cNvPr id="4" name="Shape 2"/>
          <p:cNvSpPr/>
          <p:nvPr/>
        </p:nvSpPr>
        <p:spPr>
          <a:xfrm>
            <a:off x="723748" y="1737360"/>
            <a:ext cx="5120640" cy="4206240"/>
          </a:xfrm>
          <a:prstGeom prst="roundRect">
            <a:avLst>
              <a:gd name="adj" fmla="val 1739"/>
            </a:avLst>
          </a:prstGeom>
          <a:solidFill>
            <a:srgbClr val="F4F7FD"/>
          </a:solidFill>
          <a:ln/>
          <a:effectLst>
            <a:outerShdw sx="100000" sy="100000" kx="0" ky="0" algn="bl" rotWithShape="0" blurRad="88900" dist="25400" dir="5400000">
              <a:srgbClr val="000000">
                <a:alpha val="10000"/>
              </a:srgbClr>
            </a:outerShdw>
          </a:effectLst>
        </p:spPr>
      </p:sp>
      <p:sp>
        <p:nvSpPr>
          <p:cNvPr id="5" name="Shape 3"/>
          <p:cNvSpPr/>
          <p:nvPr/>
        </p:nvSpPr>
        <p:spPr>
          <a:xfrm>
            <a:off x="1043788" y="2057400"/>
            <a:ext cx="777240" cy="777240"/>
          </a:xfrm>
          <a:prstGeom prst="ellipse">
            <a:avLst/>
          </a:prstGeom>
          <a:solidFill>
            <a:srgbClr val="CADCFC"/>
          </a:solidFill>
          <a:ln/>
        </p:spPr>
      </p:sp>
      <p:pic>
        <p:nvPicPr>
          <p:cNvPr id="6" name="Image 0" descr="preencoded.png">    </p:cNvPr>
          <p:cNvPicPr>
            <a:picLocks noChangeAspect="1"/>
          </p:cNvPicPr>
          <p:nvPr/>
        </p:nvPicPr>
        <p:blipFill>
          <a:blip r:embed="rId1"/>
          <a:stretch>
            <a:fillRect/>
          </a:stretch>
        </p:blipFill>
        <p:spPr>
          <a:xfrm>
            <a:off x="1245870" y="2259482"/>
            <a:ext cx="373075" cy="373075"/>
          </a:xfrm>
          <a:prstGeom prst="rect">
            <a:avLst/>
          </a:prstGeom>
        </p:spPr>
      </p:pic>
      <p:sp>
        <p:nvSpPr>
          <p:cNvPr id="7" name="Text 4"/>
          <p:cNvSpPr/>
          <p:nvPr/>
        </p:nvSpPr>
        <p:spPr>
          <a:xfrm>
            <a:off x="2003908" y="2103120"/>
            <a:ext cx="365760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Navigator</a:t>
            </a:r>
            <a:endParaRPr lang="en-US" sz="1900" dirty="0"/>
          </a:p>
        </p:txBody>
      </p:sp>
      <p:pic>
        <p:nvPicPr>
          <p:cNvPr id="8" name="Image 1" descr="preencoded.png">    </p:cNvPr>
          <p:cNvPicPr>
            <a:picLocks noChangeAspect="1"/>
          </p:cNvPicPr>
          <p:nvPr/>
        </p:nvPicPr>
        <p:blipFill>
          <a:blip r:embed="rId2"/>
          <a:stretch>
            <a:fillRect/>
          </a:stretch>
        </p:blipFill>
        <p:spPr>
          <a:xfrm>
            <a:off x="1043788" y="3108960"/>
            <a:ext cx="256032" cy="256032"/>
          </a:xfrm>
          <a:prstGeom prst="rect">
            <a:avLst/>
          </a:prstGeom>
        </p:spPr>
      </p:pic>
      <p:sp>
        <p:nvSpPr>
          <p:cNvPr id="9" name="Text 5"/>
          <p:cNvSpPr/>
          <p:nvPr/>
        </p:nvSpPr>
        <p:spPr>
          <a:xfrm>
            <a:off x="1455268" y="3063240"/>
            <a:ext cx="4069080" cy="5029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Fetched once, at the start of the journey</a:t>
            </a:r>
            <a:endParaRPr lang="en-US" sz="1250" dirty="0"/>
          </a:p>
        </p:txBody>
      </p:sp>
      <p:pic>
        <p:nvPicPr>
          <p:cNvPr id="10" name="Image 2" descr="preencoded.png">    </p:cNvPr>
          <p:cNvPicPr>
            <a:picLocks noChangeAspect="1"/>
          </p:cNvPicPr>
          <p:nvPr/>
        </p:nvPicPr>
        <p:blipFill>
          <a:blip r:embed="rId3"/>
          <a:stretch>
            <a:fillRect/>
          </a:stretch>
        </p:blipFill>
        <p:spPr>
          <a:xfrm>
            <a:off x="1043788" y="3703320"/>
            <a:ext cx="256032" cy="256032"/>
          </a:xfrm>
          <a:prstGeom prst="rect">
            <a:avLst/>
          </a:prstGeom>
        </p:spPr>
      </p:pic>
      <p:sp>
        <p:nvSpPr>
          <p:cNvPr id="11" name="Text 6"/>
          <p:cNvSpPr/>
          <p:nvPr/>
        </p:nvSpPr>
        <p:spPr>
          <a:xfrm>
            <a:off x="1455268" y="3657600"/>
            <a:ext cx="4069080" cy="5029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Ordered list of { screenCode, screenName, sequence }</a:t>
            </a:r>
            <a:endParaRPr lang="en-US" sz="1250" dirty="0"/>
          </a:p>
        </p:txBody>
      </p:sp>
      <p:pic>
        <p:nvPicPr>
          <p:cNvPr id="12" name="Image 3" descr="preencoded.png">    </p:cNvPr>
          <p:cNvPicPr>
            <a:picLocks noChangeAspect="1"/>
          </p:cNvPicPr>
          <p:nvPr/>
        </p:nvPicPr>
        <p:blipFill>
          <a:blip r:embed="rId4"/>
          <a:stretch>
            <a:fillRect/>
          </a:stretch>
        </p:blipFill>
        <p:spPr>
          <a:xfrm>
            <a:off x="1043788" y="4297680"/>
            <a:ext cx="256032" cy="256032"/>
          </a:xfrm>
          <a:prstGeom prst="rect">
            <a:avLst/>
          </a:prstGeom>
        </p:spPr>
      </p:pic>
      <p:sp>
        <p:nvSpPr>
          <p:cNvPr id="13" name="Text 7"/>
          <p:cNvSpPr/>
          <p:nvPr/>
        </p:nvSpPr>
        <p:spPr>
          <a:xfrm>
            <a:off x="1455268" y="4251960"/>
            <a:ext cx="4069080" cy="5029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Used purely as a screenCode → route lookup table</a:t>
            </a:r>
            <a:endParaRPr lang="en-US" sz="1250" dirty="0"/>
          </a:p>
        </p:txBody>
      </p:sp>
      <p:sp>
        <p:nvSpPr>
          <p:cNvPr id="14" name="Text 8"/>
          <p:cNvSpPr/>
          <p:nvPr/>
        </p:nvSpPr>
        <p:spPr>
          <a:xfrm>
            <a:off x="1043788" y="5394960"/>
            <a:ext cx="4480560" cy="365760"/>
          </a:xfrm>
          <a:prstGeom prst="rect">
            <a:avLst/>
          </a:prstGeom>
          <a:noFill/>
          <a:ln/>
        </p:spPr>
        <p:txBody>
          <a:bodyPr wrap="square" lIns="0" tIns="0" rIns="0" bIns="0" rtlCol="0" anchor="ctr"/>
          <a:lstStyle/>
          <a:p>
            <a:pPr indent="0" marL="0">
              <a:buNone/>
            </a:pPr>
            <a:r>
              <a:rPr lang="en-US" sz="1250" b="1" dirty="0">
                <a:solidFill>
                  <a:srgbClr val="D9A441"/>
                </a:solidFill>
                <a:latin typeface="Courier New" pitchFamily="34" charset="0"/>
                <a:ea typeface="Courier New" pitchFamily="34" charset="-122"/>
                <a:cs typeface="Courier New" pitchFamily="34" charset="-120"/>
              </a:rPr>
              <a:t>GET /navigators/:journeyCode</a:t>
            </a:r>
            <a:endParaRPr lang="en-US" sz="1250" dirty="0"/>
          </a:p>
        </p:txBody>
      </p:sp>
      <p:sp>
        <p:nvSpPr>
          <p:cNvPr id="15" name="Shape 9"/>
          <p:cNvSpPr/>
          <p:nvPr/>
        </p:nvSpPr>
        <p:spPr>
          <a:xfrm>
            <a:off x="6347308" y="1737360"/>
            <a:ext cx="5120640" cy="4206240"/>
          </a:xfrm>
          <a:prstGeom prst="roundRect">
            <a:avLst>
              <a:gd name="adj" fmla="val 1739"/>
            </a:avLst>
          </a:prstGeom>
          <a:solidFill>
            <a:srgbClr val="CADCFC"/>
          </a:solidFill>
          <a:ln/>
          <a:effectLst>
            <a:outerShdw sx="100000" sy="100000" kx="0" ky="0" algn="bl" rotWithShape="0" blurRad="88900" dist="25400" dir="5400000">
              <a:srgbClr val="000000">
                <a:alpha val="10000"/>
              </a:srgbClr>
            </a:outerShdw>
          </a:effectLst>
        </p:spPr>
      </p:sp>
      <p:sp>
        <p:nvSpPr>
          <p:cNvPr id="16" name="Shape 10"/>
          <p:cNvSpPr/>
          <p:nvPr/>
        </p:nvSpPr>
        <p:spPr>
          <a:xfrm>
            <a:off x="6667348" y="2057400"/>
            <a:ext cx="777240" cy="777240"/>
          </a:xfrm>
          <a:prstGeom prst="ellipse">
            <a:avLst/>
          </a:prstGeom>
          <a:solidFill>
            <a:srgbClr val="FFFFFF"/>
          </a:solidFill>
          <a:ln/>
        </p:spPr>
      </p:sp>
      <p:pic>
        <p:nvPicPr>
          <p:cNvPr id="17" name="Image 4" descr="preencoded.png">    </p:cNvPr>
          <p:cNvPicPr>
            <a:picLocks noChangeAspect="1"/>
          </p:cNvPicPr>
          <p:nvPr/>
        </p:nvPicPr>
        <p:blipFill>
          <a:blip r:embed="rId5"/>
          <a:stretch>
            <a:fillRect/>
          </a:stretch>
        </p:blipFill>
        <p:spPr>
          <a:xfrm>
            <a:off x="6869430" y="2259482"/>
            <a:ext cx="373075" cy="373075"/>
          </a:xfrm>
          <a:prstGeom prst="rect">
            <a:avLst/>
          </a:prstGeom>
        </p:spPr>
      </p:pic>
      <p:sp>
        <p:nvSpPr>
          <p:cNvPr id="18" name="Text 11"/>
          <p:cNvSpPr/>
          <p:nvPr/>
        </p:nvSpPr>
        <p:spPr>
          <a:xfrm>
            <a:off x="7627468" y="2103120"/>
            <a:ext cx="365760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Template-Screen</a:t>
            </a:r>
            <a:endParaRPr lang="en-US" sz="1900" dirty="0"/>
          </a:p>
        </p:txBody>
      </p:sp>
      <p:pic>
        <p:nvPicPr>
          <p:cNvPr id="19" name="Image 5" descr="preencoded.png">    </p:cNvPr>
          <p:cNvPicPr>
            <a:picLocks noChangeAspect="1"/>
          </p:cNvPicPr>
          <p:nvPr/>
        </p:nvPicPr>
        <p:blipFill>
          <a:blip r:embed="rId6"/>
          <a:stretch>
            <a:fillRect/>
          </a:stretch>
        </p:blipFill>
        <p:spPr>
          <a:xfrm>
            <a:off x="6667348" y="3108960"/>
            <a:ext cx="256032" cy="256032"/>
          </a:xfrm>
          <a:prstGeom prst="rect">
            <a:avLst/>
          </a:prstGeom>
        </p:spPr>
      </p:pic>
      <p:sp>
        <p:nvSpPr>
          <p:cNvPr id="20" name="Text 12"/>
          <p:cNvSpPr/>
          <p:nvPr/>
        </p:nvSpPr>
        <p:spPr>
          <a:xfrm>
            <a:off x="7078828" y="3063240"/>
            <a:ext cx="4069080" cy="5029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Fetched fresh, on every single screen the user lands on</a:t>
            </a:r>
            <a:endParaRPr lang="en-US" sz="1250" dirty="0"/>
          </a:p>
        </p:txBody>
      </p:sp>
      <p:pic>
        <p:nvPicPr>
          <p:cNvPr id="21" name="Image 6" descr="preencoded.png">    </p:cNvPr>
          <p:cNvPicPr>
            <a:picLocks noChangeAspect="1"/>
          </p:cNvPicPr>
          <p:nvPr/>
        </p:nvPicPr>
        <p:blipFill>
          <a:blip r:embed="rId7"/>
          <a:stretch>
            <a:fillRect/>
          </a:stretch>
        </p:blipFill>
        <p:spPr>
          <a:xfrm>
            <a:off x="6667348" y="3703320"/>
            <a:ext cx="256032" cy="256032"/>
          </a:xfrm>
          <a:prstGeom prst="rect">
            <a:avLst/>
          </a:prstGeom>
        </p:spPr>
      </p:pic>
      <p:sp>
        <p:nvSpPr>
          <p:cNvPr id="22" name="Text 13"/>
          <p:cNvSpPr/>
          <p:nvPr/>
        </p:nvSpPr>
        <p:spPr>
          <a:xfrm>
            <a:off x="7078828" y="3657600"/>
            <a:ext cx="4069080" cy="5029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Components returned as a componentId-keyed map</a:t>
            </a:r>
            <a:endParaRPr lang="en-US" sz="1250" dirty="0"/>
          </a:p>
        </p:txBody>
      </p:sp>
      <p:pic>
        <p:nvPicPr>
          <p:cNvPr id="23" name="Image 7" descr="preencoded.png">    </p:cNvPr>
          <p:cNvPicPr>
            <a:picLocks noChangeAspect="1"/>
          </p:cNvPicPr>
          <p:nvPr/>
        </p:nvPicPr>
        <p:blipFill>
          <a:blip r:embed="rId8"/>
          <a:stretch>
            <a:fillRect/>
          </a:stretch>
        </p:blipFill>
        <p:spPr>
          <a:xfrm>
            <a:off x="6667348" y="4297680"/>
            <a:ext cx="256032" cy="256032"/>
          </a:xfrm>
          <a:prstGeom prst="rect">
            <a:avLst/>
          </a:prstGeom>
        </p:spPr>
      </p:pic>
      <p:sp>
        <p:nvSpPr>
          <p:cNvPr id="24" name="Text 14"/>
          <p:cNvSpPr/>
          <p:nvPr/>
        </p:nvSpPr>
        <p:spPr>
          <a:xfrm>
            <a:off x="7078828" y="4251960"/>
            <a:ext cx="4069080" cy="5029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Drives the fields, labels, and layout for that screen</a:t>
            </a:r>
            <a:endParaRPr lang="en-US" sz="1250" dirty="0"/>
          </a:p>
        </p:txBody>
      </p:sp>
      <p:sp>
        <p:nvSpPr>
          <p:cNvPr id="25" name="Text 15"/>
          <p:cNvSpPr/>
          <p:nvPr/>
        </p:nvSpPr>
        <p:spPr>
          <a:xfrm>
            <a:off x="6667348" y="5394960"/>
            <a:ext cx="4480560" cy="365760"/>
          </a:xfrm>
          <a:prstGeom prst="rect">
            <a:avLst/>
          </a:prstGeom>
          <a:noFill/>
          <a:ln/>
        </p:spPr>
        <p:txBody>
          <a:bodyPr wrap="square" lIns="0" tIns="0" rIns="0" bIns="0" rtlCol="0" anchor="ctr"/>
          <a:lstStyle/>
          <a:p>
            <a:pPr indent="0" marL="0">
              <a:buNone/>
            </a:pPr>
            <a:r>
              <a:rPr lang="en-US" sz="1250" b="1" dirty="0">
                <a:solidFill>
                  <a:srgbClr val="1E2761"/>
                </a:solidFill>
                <a:latin typeface="Courier New" pitchFamily="34" charset="0"/>
                <a:ea typeface="Courier New" pitchFamily="34" charset="-122"/>
                <a:cs typeface="Courier New" pitchFamily="34" charset="-120"/>
              </a:rPr>
              <a:t>GET /template-screens/:template_id</a:t>
            </a:r>
            <a:endParaRPr lang="en-US" sz="1250" dirty="0"/>
          </a:p>
        </p:txBody>
      </p:sp>
      <p:sp>
        <p:nvSpPr>
          <p:cNvPr id="26" name="Text 16"/>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27" name="Text 17"/>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THE JOURNEY LOOP</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Sequence Diagram — Full Journey Loop</a:t>
            </a:r>
            <a:endParaRPr lang="en-US" sz="3000" dirty="0"/>
          </a:p>
        </p:txBody>
      </p:sp>
      <p:sp>
        <p:nvSpPr>
          <p:cNvPr id="4" name="Shape 2"/>
          <p:cNvSpPr/>
          <p:nvPr/>
        </p:nvSpPr>
        <p:spPr>
          <a:xfrm>
            <a:off x="868680" y="1417320"/>
            <a:ext cx="1737360" cy="502920"/>
          </a:xfrm>
          <a:prstGeom prst="roundRect">
            <a:avLst>
              <a:gd name="adj" fmla="val 12727"/>
            </a:avLst>
          </a:prstGeom>
          <a:solidFill>
            <a:srgbClr val="1E2761"/>
          </a:solidFill>
          <a:ln/>
        </p:spPr>
      </p:sp>
      <p:pic>
        <p:nvPicPr>
          <p:cNvPr id="5" name="Image 0" descr="preencoded.png">    </p:cNvPr>
          <p:cNvPicPr>
            <a:picLocks noChangeAspect="1"/>
          </p:cNvPicPr>
          <p:nvPr/>
        </p:nvPicPr>
        <p:blipFill>
          <a:blip r:embed="rId1"/>
          <a:stretch>
            <a:fillRect/>
          </a:stretch>
        </p:blipFill>
        <p:spPr>
          <a:xfrm>
            <a:off x="978408" y="1536192"/>
            <a:ext cx="274320" cy="274320"/>
          </a:xfrm>
          <a:prstGeom prst="rect">
            <a:avLst/>
          </a:prstGeom>
        </p:spPr>
      </p:pic>
      <p:sp>
        <p:nvSpPr>
          <p:cNvPr id="6" name="Text 3"/>
          <p:cNvSpPr/>
          <p:nvPr/>
        </p:nvSpPr>
        <p:spPr>
          <a:xfrm>
            <a:off x="1280160" y="1417320"/>
            <a:ext cx="1234440"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User</a:t>
            </a:r>
            <a:endParaRPr lang="en-US" sz="1150" dirty="0"/>
          </a:p>
        </p:txBody>
      </p:sp>
      <p:sp>
        <p:nvSpPr>
          <p:cNvPr id="7" name="Shape 4"/>
          <p:cNvSpPr/>
          <p:nvPr/>
        </p:nvSpPr>
        <p:spPr>
          <a:xfrm>
            <a:off x="1737360" y="1920240"/>
            <a:ext cx="0" cy="4526280"/>
          </a:xfrm>
          <a:prstGeom prst="line">
            <a:avLst/>
          </a:prstGeom>
          <a:noFill/>
          <a:ln w="15875">
            <a:solidFill>
              <a:srgbClr val="B7C2DA"/>
            </a:solidFill>
            <a:prstDash val="dash"/>
          </a:ln>
        </p:spPr>
      </p:sp>
      <p:sp>
        <p:nvSpPr>
          <p:cNvPr id="8" name="Shape 5"/>
          <p:cNvSpPr/>
          <p:nvPr/>
        </p:nvSpPr>
        <p:spPr>
          <a:xfrm>
            <a:off x="3840480" y="1417320"/>
            <a:ext cx="1737360" cy="502920"/>
          </a:xfrm>
          <a:prstGeom prst="roundRect">
            <a:avLst>
              <a:gd name="adj" fmla="val 12727"/>
            </a:avLst>
          </a:prstGeom>
          <a:solidFill>
            <a:srgbClr val="1E2761"/>
          </a:solidFill>
          <a:ln/>
        </p:spPr>
      </p:sp>
      <p:pic>
        <p:nvPicPr>
          <p:cNvPr id="9" name="Image 1" descr="preencoded.png">    </p:cNvPr>
          <p:cNvPicPr>
            <a:picLocks noChangeAspect="1"/>
          </p:cNvPicPr>
          <p:nvPr/>
        </p:nvPicPr>
        <p:blipFill>
          <a:blip r:embed="rId2"/>
          <a:stretch>
            <a:fillRect/>
          </a:stretch>
        </p:blipFill>
        <p:spPr>
          <a:xfrm>
            <a:off x="3950208" y="1536192"/>
            <a:ext cx="274320" cy="274320"/>
          </a:xfrm>
          <a:prstGeom prst="rect">
            <a:avLst/>
          </a:prstGeom>
        </p:spPr>
      </p:pic>
      <p:sp>
        <p:nvSpPr>
          <p:cNvPr id="10" name="Text 6"/>
          <p:cNvSpPr/>
          <p:nvPr/>
        </p:nvSpPr>
        <p:spPr>
          <a:xfrm>
            <a:off x="4251960" y="1417320"/>
            <a:ext cx="1234440"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RN App</a:t>
            </a:r>
            <a:endParaRPr lang="en-US" sz="1150" dirty="0"/>
          </a:p>
        </p:txBody>
      </p:sp>
      <p:sp>
        <p:nvSpPr>
          <p:cNvPr id="11" name="Shape 7"/>
          <p:cNvSpPr/>
          <p:nvPr/>
        </p:nvSpPr>
        <p:spPr>
          <a:xfrm>
            <a:off x="4709160" y="1920240"/>
            <a:ext cx="0" cy="4526280"/>
          </a:xfrm>
          <a:prstGeom prst="line">
            <a:avLst/>
          </a:prstGeom>
          <a:noFill/>
          <a:ln w="15875">
            <a:solidFill>
              <a:srgbClr val="B7C2DA"/>
            </a:solidFill>
            <a:prstDash val="dash"/>
          </a:ln>
        </p:spPr>
      </p:sp>
      <p:sp>
        <p:nvSpPr>
          <p:cNvPr id="12" name="Shape 8"/>
          <p:cNvSpPr/>
          <p:nvPr/>
        </p:nvSpPr>
        <p:spPr>
          <a:xfrm>
            <a:off x="6812280" y="1417320"/>
            <a:ext cx="1737360" cy="502920"/>
          </a:xfrm>
          <a:prstGeom prst="roundRect">
            <a:avLst>
              <a:gd name="adj" fmla="val 12727"/>
            </a:avLst>
          </a:prstGeom>
          <a:solidFill>
            <a:srgbClr val="1E2761"/>
          </a:solidFill>
          <a:ln/>
        </p:spPr>
      </p:sp>
      <p:pic>
        <p:nvPicPr>
          <p:cNvPr id="13" name="Image 2" descr="preencoded.png">    </p:cNvPr>
          <p:cNvPicPr>
            <a:picLocks noChangeAspect="1"/>
          </p:cNvPicPr>
          <p:nvPr/>
        </p:nvPicPr>
        <p:blipFill>
          <a:blip r:embed="rId3"/>
          <a:stretch>
            <a:fillRect/>
          </a:stretch>
        </p:blipFill>
        <p:spPr>
          <a:xfrm>
            <a:off x="6922008" y="1536192"/>
            <a:ext cx="274320" cy="274320"/>
          </a:xfrm>
          <a:prstGeom prst="rect">
            <a:avLst/>
          </a:prstGeom>
        </p:spPr>
      </p:pic>
      <p:sp>
        <p:nvSpPr>
          <p:cNvPr id="14" name="Text 9"/>
          <p:cNvSpPr/>
          <p:nvPr/>
        </p:nvSpPr>
        <p:spPr>
          <a:xfrm>
            <a:off x="7223760" y="1417320"/>
            <a:ext cx="1234440"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CMS (Strapi)</a:t>
            </a:r>
            <a:endParaRPr lang="en-US" sz="1150" dirty="0"/>
          </a:p>
        </p:txBody>
      </p:sp>
      <p:sp>
        <p:nvSpPr>
          <p:cNvPr id="15" name="Shape 10"/>
          <p:cNvSpPr/>
          <p:nvPr/>
        </p:nvSpPr>
        <p:spPr>
          <a:xfrm>
            <a:off x="7680960" y="1920240"/>
            <a:ext cx="0" cy="4526280"/>
          </a:xfrm>
          <a:prstGeom prst="line">
            <a:avLst/>
          </a:prstGeom>
          <a:noFill/>
          <a:ln w="15875">
            <a:solidFill>
              <a:srgbClr val="B7C2DA"/>
            </a:solidFill>
            <a:prstDash val="dash"/>
          </a:ln>
        </p:spPr>
      </p:sp>
      <p:sp>
        <p:nvSpPr>
          <p:cNvPr id="16" name="Shape 11"/>
          <p:cNvSpPr/>
          <p:nvPr/>
        </p:nvSpPr>
        <p:spPr>
          <a:xfrm>
            <a:off x="9784080" y="1417320"/>
            <a:ext cx="1737360" cy="502920"/>
          </a:xfrm>
          <a:prstGeom prst="roundRect">
            <a:avLst>
              <a:gd name="adj" fmla="val 12727"/>
            </a:avLst>
          </a:prstGeom>
          <a:solidFill>
            <a:srgbClr val="1E2761"/>
          </a:solidFill>
          <a:ln/>
        </p:spPr>
      </p:sp>
      <p:pic>
        <p:nvPicPr>
          <p:cNvPr id="17" name="Image 3" descr="preencoded.png">    </p:cNvPr>
          <p:cNvPicPr>
            <a:picLocks noChangeAspect="1"/>
          </p:cNvPicPr>
          <p:nvPr/>
        </p:nvPicPr>
        <p:blipFill>
          <a:blip r:embed="rId4"/>
          <a:stretch>
            <a:fillRect/>
          </a:stretch>
        </p:blipFill>
        <p:spPr>
          <a:xfrm>
            <a:off x="9893808" y="1536192"/>
            <a:ext cx="274320" cy="274320"/>
          </a:xfrm>
          <a:prstGeom prst="rect">
            <a:avLst/>
          </a:prstGeom>
        </p:spPr>
      </p:pic>
      <p:sp>
        <p:nvSpPr>
          <p:cNvPr id="18" name="Text 12"/>
          <p:cNvSpPr/>
          <p:nvPr/>
        </p:nvSpPr>
        <p:spPr>
          <a:xfrm>
            <a:off x="10195560" y="1417320"/>
            <a:ext cx="1234440"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Orchestrator (BE)</a:t>
            </a:r>
            <a:endParaRPr lang="en-US" sz="1150" dirty="0"/>
          </a:p>
        </p:txBody>
      </p:sp>
      <p:sp>
        <p:nvSpPr>
          <p:cNvPr id="19" name="Shape 13"/>
          <p:cNvSpPr/>
          <p:nvPr/>
        </p:nvSpPr>
        <p:spPr>
          <a:xfrm>
            <a:off x="10652760" y="1920240"/>
            <a:ext cx="0" cy="4526280"/>
          </a:xfrm>
          <a:prstGeom prst="line">
            <a:avLst/>
          </a:prstGeom>
          <a:noFill/>
          <a:ln w="15875">
            <a:solidFill>
              <a:srgbClr val="B7C2DA"/>
            </a:solidFill>
            <a:prstDash val="dash"/>
          </a:ln>
        </p:spPr>
      </p:sp>
      <p:sp>
        <p:nvSpPr>
          <p:cNvPr id="20" name="Shape 14"/>
          <p:cNvSpPr/>
          <p:nvPr/>
        </p:nvSpPr>
        <p:spPr>
          <a:xfrm>
            <a:off x="1737360" y="2240280"/>
            <a:ext cx="2971800" cy="0"/>
          </a:xfrm>
          <a:prstGeom prst="line">
            <a:avLst/>
          </a:prstGeom>
          <a:noFill/>
          <a:ln w="22225">
            <a:solidFill>
              <a:srgbClr val="5B6B8C"/>
            </a:solidFill>
            <a:prstDash val="solid"/>
          </a:ln>
        </p:spPr>
      </p:sp>
      <p:sp>
        <p:nvSpPr>
          <p:cNvPr id="21" name="Text 15"/>
          <p:cNvSpPr/>
          <p:nvPr/>
        </p:nvSpPr>
        <p:spPr>
          <a:xfrm>
            <a:off x="4507992" y="2139696"/>
            <a:ext cx="201168" cy="201168"/>
          </a:xfrm>
          <a:prstGeom prst="rect">
            <a:avLst/>
          </a:prstGeom>
          <a:noFill/>
          <a:ln/>
        </p:spPr>
        <p:txBody>
          <a:bodyPr wrap="square" lIns="0" tIns="0" rIns="0" bIns="0" rtlCol="0" anchor="ctr"/>
          <a:lstStyle/>
          <a:p>
            <a:pPr algn="ctr" indent="0" marL="0">
              <a:buNone/>
            </a:pPr>
            <a:r>
              <a:rPr lang="en-US" sz="1300" dirty="0">
                <a:solidFill>
                  <a:srgbClr val="5B6B8C"/>
                </a:solidFill>
              </a:rPr>
              <a:t>▸</a:t>
            </a:r>
            <a:endParaRPr lang="en-US" sz="1300" dirty="0"/>
          </a:p>
        </p:txBody>
      </p:sp>
      <p:sp>
        <p:nvSpPr>
          <p:cNvPr id="22" name="Text 16"/>
          <p:cNvSpPr/>
          <p:nvPr/>
        </p:nvSpPr>
        <p:spPr>
          <a:xfrm>
            <a:off x="1874520" y="1947672"/>
            <a:ext cx="2606040" cy="256032"/>
          </a:xfrm>
          <a:prstGeom prst="rect">
            <a:avLst/>
          </a:prstGeom>
          <a:noFill/>
          <a:ln/>
        </p:spPr>
        <p:txBody>
          <a:bodyPr wrap="square" lIns="0" tIns="0" rIns="0" bIns="0" rtlCol="0" anchor="ctr"/>
          <a:lstStyle/>
          <a:p>
            <a:pPr algn="l" indent="0" marL="0">
              <a:buNone/>
            </a:pPr>
            <a:r>
              <a:rPr lang="en-US" sz="1050" dirty="0">
                <a:solidFill>
                  <a:srgbClr val="20264A"/>
                </a:solidFill>
                <a:latin typeface="Calibri" pitchFamily="34" charset="0"/>
                <a:ea typeface="Calibri" pitchFamily="34" charset="-122"/>
                <a:cs typeface="Calibri" pitchFamily="34" charset="-120"/>
              </a:rPr>
              <a:t>Tap "Apply"</a:t>
            </a:r>
            <a:endParaRPr lang="en-US" sz="1050" dirty="0"/>
          </a:p>
        </p:txBody>
      </p:sp>
      <p:sp>
        <p:nvSpPr>
          <p:cNvPr id="23" name="Shape 17"/>
          <p:cNvSpPr/>
          <p:nvPr/>
        </p:nvSpPr>
        <p:spPr>
          <a:xfrm>
            <a:off x="4709160" y="2715768"/>
            <a:ext cx="2971800" cy="0"/>
          </a:xfrm>
          <a:prstGeom prst="line">
            <a:avLst/>
          </a:prstGeom>
          <a:noFill/>
          <a:ln w="22225">
            <a:solidFill>
              <a:srgbClr val="D9A441"/>
            </a:solidFill>
            <a:prstDash val="solid"/>
          </a:ln>
        </p:spPr>
      </p:sp>
      <p:sp>
        <p:nvSpPr>
          <p:cNvPr id="24" name="Text 18"/>
          <p:cNvSpPr/>
          <p:nvPr/>
        </p:nvSpPr>
        <p:spPr>
          <a:xfrm>
            <a:off x="7479792" y="2615184"/>
            <a:ext cx="201168" cy="201168"/>
          </a:xfrm>
          <a:prstGeom prst="rect">
            <a:avLst/>
          </a:prstGeom>
          <a:noFill/>
          <a:ln/>
        </p:spPr>
        <p:txBody>
          <a:bodyPr wrap="square" lIns="0" tIns="0" rIns="0" bIns="0" rtlCol="0" anchor="ctr"/>
          <a:lstStyle/>
          <a:p>
            <a:pPr algn="ctr" indent="0" marL="0">
              <a:buNone/>
            </a:pPr>
            <a:r>
              <a:rPr lang="en-US" sz="1300" dirty="0">
                <a:solidFill>
                  <a:srgbClr val="D9A441"/>
                </a:solidFill>
              </a:rPr>
              <a:t>▸</a:t>
            </a:r>
            <a:endParaRPr lang="en-US" sz="1300" dirty="0"/>
          </a:p>
        </p:txBody>
      </p:sp>
      <p:sp>
        <p:nvSpPr>
          <p:cNvPr id="25" name="Shape 19"/>
          <p:cNvSpPr/>
          <p:nvPr/>
        </p:nvSpPr>
        <p:spPr>
          <a:xfrm>
            <a:off x="4572000" y="2395728"/>
            <a:ext cx="274320" cy="274320"/>
          </a:xfrm>
          <a:prstGeom prst="ellipse">
            <a:avLst/>
          </a:prstGeom>
          <a:solidFill>
            <a:srgbClr val="D9A441"/>
          </a:solidFill>
          <a:ln/>
        </p:spPr>
      </p:sp>
      <p:sp>
        <p:nvSpPr>
          <p:cNvPr id="26" name="Text 20"/>
          <p:cNvSpPr/>
          <p:nvPr/>
        </p:nvSpPr>
        <p:spPr>
          <a:xfrm>
            <a:off x="4572000" y="239572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7" name="Text 21"/>
          <p:cNvSpPr/>
          <p:nvPr/>
        </p:nvSpPr>
        <p:spPr>
          <a:xfrm>
            <a:off x="4983480" y="2423160"/>
            <a:ext cx="2606040" cy="256032"/>
          </a:xfrm>
          <a:prstGeom prst="rect">
            <a:avLst/>
          </a:prstGeom>
          <a:noFill/>
          <a:ln/>
        </p:spPr>
        <p:txBody>
          <a:bodyPr wrap="square" lIns="0" tIns="0" rIns="0" bIns="0" rtlCol="0" anchor="ctr"/>
          <a:lstStyle/>
          <a:p>
            <a:pPr algn="l" indent="0" marL="0">
              <a:buNone/>
            </a:pPr>
            <a:r>
              <a:rPr lang="en-US" sz="1050" b="1" dirty="0">
                <a:solidFill>
                  <a:srgbClr val="20264A"/>
                </a:solidFill>
                <a:latin typeface="Courier New" pitchFamily="34" charset="0"/>
                <a:ea typeface="Courier New" pitchFamily="34" charset="-122"/>
                <a:cs typeface="Courier New" pitchFamily="34" charset="-120"/>
              </a:rPr>
              <a:t>GET /navigators/:journeyCode</a:t>
            </a:r>
            <a:endParaRPr lang="en-US" sz="1050" dirty="0"/>
          </a:p>
        </p:txBody>
      </p:sp>
      <p:sp>
        <p:nvSpPr>
          <p:cNvPr id="28" name="Shape 22"/>
          <p:cNvSpPr/>
          <p:nvPr/>
        </p:nvSpPr>
        <p:spPr>
          <a:xfrm>
            <a:off x="4709160" y="3191256"/>
            <a:ext cx="2971800" cy="0"/>
          </a:xfrm>
          <a:prstGeom prst="line">
            <a:avLst/>
          </a:prstGeom>
          <a:noFill/>
          <a:ln w="22225">
            <a:solidFill>
              <a:srgbClr val="D9A441"/>
            </a:solidFill>
            <a:prstDash val="solid"/>
          </a:ln>
        </p:spPr>
      </p:sp>
      <p:sp>
        <p:nvSpPr>
          <p:cNvPr id="29" name="Text 23"/>
          <p:cNvSpPr/>
          <p:nvPr/>
        </p:nvSpPr>
        <p:spPr>
          <a:xfrm>
            <a:off x="4727448" y="3090672"/>
            <a:ext cx="201168" cy="201168"/>
          </a:xfrm>
          <a:prstGeom prst="rect">
            <a:avLst/>
          </a:prstGeom>
          <a:noFill/>
          <a:ln/>
        </p:spPr>
        <p:txBody>
          <a:bodyPr wrap="square" lIns="0" tIns="0" rIns="0" bIns="0" rtlCol="0" anchor="ctr"/>
          <a:lstStyle/>
          <a:p>
            <a:pPr algn="ctr" indent="0" marL="0">
              <a:buNone/>
            </a:pPr>
            <a:r>
              <a:rPr lang="en-US" sz="1300" dirty="0">
                <a:solidFill>
                  <a:srgbClr val="D9A441"/>
                </a:solidFill>
              </a:rPr>
              <a:t>◂</a:t>
            </a:r>
            <a:endParaRPr lang="en-US" sz="1300" dirty="0"/>
          </a:p>
        </p:txBody>
      </p:sp>
      <p:sp>
        <p:nvSpPr>
          <p:cNvPr id="30" name="Text 24"/>
          <p:cNvSpPr/>
          <p:nvPr/>
        </p:nvSpPr>
        <p:spPr>
          <a:xfrm>
            <a:off x="4846320" y="2898648"/>
            <a:ext cx="2606040" cy="256032"/>
          </a:xfrm>
          <a:prstGeom prst="rect">
            <a:avLst/>
          </a:prstGeom>
          <a:noFill/>
          <a:ln/>
        </p:spPr>
        <p:txBody>
          <a:bodyPr wrap="square" lIns="0" tIns="0" rIns="0" bIns="0" rtlCol="0" anchor="ctr"/>
          <a:lstStyle/>
          <a:p>
            <a:pPr algn="r" indent="0" marL="0">
              <a:buNone/>
            </a:pPr>
            <a:r>
              <a:rPr lang="en-US" sz="1050" dirty="0">
                <a:solidFill>
                  <a:srgbClr val="20264A"/>
                </a:solidFill>
                <a:latin typeface="Calibri" pitchFamily="34" charset="0"/>
                <a:ea typeface="Calibri" pitchFamily="34" charset="-122"/>
                <a:cs typeface="Calibri" pitchFamily="34" charset="-120"/>
              </a:rPr>
              <a:t>screenCode list (fetched once)</a:t>
            </a:r>
            <a:endParaRPr lang="en-US" sz="1050" dirty="0"/>
          </a:p>
        </p:txBody>
      </p:sp>
      <p:sp>
        <p:nvSpPr>
          <p:cNvPr id="31" name="Shape 25"/>
          <p:cNvSpPr/>
          <p:nvPr/>
        </p:nvSpPr>
        <p:spPr>
          <a:xfrm>
            <a:off x="4709160" y="3666744"/>
            <a:ext cx="5943600" cy="0"/>
          </a:xfrm>
          <a:prstGeom prst="line">
            <a:avLst/>
          </a:prstGeom>
          <a:noFill/>
          <a:ln w="22225">
            <a:solidFill>
              <a:srgbClr val="5B6B8C"/>
            </a:solidFill>
            <a:prstDash val="solid"/>
          </a:ln>
        </p:spPr>
      </p:sp>
      <p:sp>
        <p:nvSpPr>
          <p:cNvPr id="32" name="Text 26"/>
          <p:cNvSpPr/>
          <p:nvPr/>
        </p:nvSpPr>
        <p:spPr>
          <a:xfrm>
            <a:off x="10451592" y="3566160"/>
            <a:ext cx="201168" cy="201168"/>
          </a:xfrm>
          <a:prstGeom prst="rect">
            <a:avLst/>
          </a:prstGeom>
          <a:noFill/>
          <a:ln/>
        </p:spPr>
        <p:txBody>
          <a:bodyPr wrap="square" lIns="0" tIns="0" rIns="0" bIns="0" rtlCol="0" anchor="ctr"/>
          <a:lstStyle/>
          <a:p>
            <a:pPr algn="ctr" indent="0" marL="0">
              <a:buNone/>
            </a:pPr>
            <a:r>
              <a:rPr lang="en-US" sz="1300" dirty="0">
                <a:solidFill>
                  <a:srgbClr val="5B6B8C"/>
                </a:solidFill>
              </a:rPr>
              <a:t>▸</a:t>
            </a:r>
            <a:endParaRPr lang="en-US" sz="1300" dirty="0"/>
          </a:p>
        </p:txBody>
      </p:sp>
      <p:sp>
        <p:nvSpPr>
          <p:cNvPr id="33" name="Shape 27"/>
          <p:cNvSpPr/>
          <p:nvPr/>
        </p:nvSpPr>
        <p:spPr>
          <a:xfrm>
            <a:off x="4572000" y="3346704"/>
            <a:ext cx="274320" cy="274320"/>
          </a:xfrm>
          <a:prstGeom prst="ellipse">
            <a:avLst/>
          </a:prstGeom>
          <a:solidFill>
            <a:srgbClr val="5B6B8C"/>
          </a:solidFill>
          <a:ln/>
        </p:spPr>
      </p:sp>
      <p:sp>
        <p:nvSpPr>
          <p:cNvPr id="34" name="Text 28"/>
          <p:cNvSpPr/>
          <p:nvPr/>
        </p:nvSpPr>
        <p:spPr>
          <a:xfrm>
            <a:off x="4572000" y="334670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29"/>
          <p:cNvSpPr/>
          <p:nvPr/>
        </p:nvSpPr>
        <p:spPr>
          <a:xfrm>
            <a:off x="4983480" y="3374136"/>
            <a:ext cx="5577840" cy="256032"/>
          </a:xfrm>
          <a:prstGeom prst="rect">
            <a:avLst/>
          </a:prstGeom>
          <a:noFill/>
          <a:ln/>
        </p:spPr>
        <p:txBody>
          <a:bodyPr wrap="square" lIns="0" tIns="0" rIns="0" bIns="0" rtlCol="0" anchor="ctr"/>
          <a:lstStyle/>
          <a:p>
            <a:pPr algn="l" indent="0" marL="0">
              <a:buNone/>
            </a:pPr>
            <a:r>
              <a:rPr lang="en-US" sz="1050" dirty="0">
                <a:solidFill>
                  <a:srgbClr val="20264A"/>
                </a:solidFill>
                <a:latin typeface="Calibri" pitchFamily="34" charset="0"/>
                <a:ea typeface="Calibri" pitchFamily="34" charset="-122"/>
                <a:cs typeface="Calibri" pitchFamily="34" charset="-120"/>
              </a:rPr>
              <a:t>start journey (applicant data)</a:t>
            </a:r>
            <a:endParaRPr lang="en-US" sz="1050" dirty="0"/>
          </a:p>
        </p:txBody>
      </p:sp>
      <p:sp>
        <p:nvSpPr>
          <p:cNvPr id="36" name="Shape 30"/>
          <p:cNvSpPr/>
          <p:nvPr/>
        </p:nvSpPr>
        <p:spPr>
          <a:xfrm>
            <a:off x="4709160" y="4142232"/>
            <a:ext cx="5943600" cy="0"/>
          </a:xfrm>
          <a:prstGeom prst="line">
            <a:avLst/>
          </a:prstGeom>
          <a:noFill/>
          <a:ln w="22225">
            <a:solidFill>
              <a:srgbClr val="5B6B8C"/>
            </a:solidFill>
            <a:prstDash val="solid"/>
          </a:ln>
        </p:spPr>
      </p:sp>
      <p:sp>
        <p:nvSpPr>
          <p:cNvPr id="37" name="Text 31"/>
          <p:cNvSpPr/>
          <p:nvPr/>
        </p:nvSpPr>
        <p:spPr>
          <a:xfrm>
            <a:off x="4727448" y="4041648"/>
            <a:ext cx="201168" cy="201168"/>
          </a:xfrm>
          <a:prstGeom prst="rect">
            <a:avLst/>
          </a:prstGeom>
          <a:noFill/>
          <a:ln/>
        </p:spPr>
        <p:txBody>
          <a:bodyPr wrap="square" lIns="0" tIns="0" rIns="0" bIns="0" rtlCol="0" anchor="ctr"/>
          <a:lstStyle/>
          <a:p>
            <a:pPr algn="ctr" indent="0" marL="0">
              <a:buNone/>
            </a:pPr>
            <a:r>
              <a:rPr lang="en-US" sz="1300" dirty="0">
                <a:solidFill>
                  <a:srgbClr val="5B6B8C"/>
                </a:solidFill>
              </a:rPr>
              <a:t>◂</a:t>
            </a:r>
            <a:endParaRPr lang="en-US" sz="1300" dirty="0"/>
          </a:p>
        </p:txBody>
      </p:sp>
      <p:sp>
        <p:nvSpPr>
          <p:cNvPr id="38" name="Text 32"/>
          <p:cNvSpPr/>
          <p:nvPr/>
        </p:nvSpPr>
        <p:spPr>
          <a:xfrm>
            <a:off x="4846320" y="3849624"/>
            <a:ext cx="5577840" cy="256032"/>
          </a:xfrm>
          <a:prstGeom prst="rect">
            <a:avLst/>
          </a:prstGeom>
          <a:noFill/>
          <a:ln/>
        </p:spPr>
        <p:txBody>
          <a:bodyPr wrap="square" lIns="0" tIns="0" rIns="0" bIns="0" rtlCol="0" anchor="ctr"/>
          <a:lstStyle/>
          <a:p>
            <a:pPr algn="r" indent="0" marL="0">
              <a:buNone/>
            </a:pPr>
            <a:r>
              <a:rPr lang="en-US" sz="1050" dirty="0">
                <a:solidFill>
                  <a:srgbClr val="20264A"/>
                </a:solidFill>
                <a:latin typeface="Calibri" pitchFamily="34" charset="0"/>
                <a:ea typeface="Calibri" pitchFamily="34" charset="-122"/>
                <a:cs typeface="Calibri" pitchFamily="34" charset="-120"/>
              </a:rPr>
              <a:t>variables + first screenCode</a:t>
            </a:r>
            <a:endParaRPr lang="en-US" sz="1050" dirty="0"/>
          </a:p>
        </p:txBody>
      </p:sp>
      <p:sp>
        <p:nvSpPr>
          <p:cNvPr id="39" name="Shape 33"/>
          <p:cNvSpPr/>
          <p:nvPr/>
        </p:nvSpPr>
        <p:spPr>
          <a:xfrm>
            <a:off x="4709160" y="4754880"/>
            <a:ext cx="2971800" cy="0"/>
          </a:xfrm>
          <a:prstGeom prst="line">
            <a:avLst/>
          </a:prstGeom>
          <a:noFill/>
          <a:ln w="22225">
            <a:solidFill>
              <a:srgbClr val="D9A441"/>
            </a:solidFill>
            <a:prstDash val="solid"/>
          </a:ln>
        </p:spPr>
      </p:sp>
      <p:sp>
        <p:nvSpPr>
          <p:cNvPr id="40" name="Text 34"/>
          <p:cNvSpPr/>
          <p:nvPr/>
        </p:nvSpPr>
        <p:spPr>
          <a:xfrm>
            <a:off x="7479792" y="4654296"/>
            <a:ext cx="201168" cy="201168"/>
          </a:xfrm>
          <a:prstGeom prst="rect">
            <a:avLst/>
          </a:prstGeom>
          <a:noFill/>
          <a:ln/>
        </p:spPr>
        <p:txBody>
          <a:bodyPr wrap="square" lIns="0" tIns="0" rIns="0" bIns="0" rtlCol="0" anchor="ctr"/>
          <a:lstStyle/>
          <a:p>
            <a:pPr algn="ctr" indent="0" marL="0">
              <a:buNone/>
            </a:pPr>
            <a:r>
              <a:rPr lang="en-US" sz="1300" dirty="0">
                <a:solidFill>
                  <a:srgbClr val="D9A441"/>
                </a:solidFill>
              </a:rPr>
              <a:t>▸</a:t>
            </a:r>
            <a:endParaRPr lang="en-US" sz="1300" dirty="0"/>
          </a:p>
        </p:txBody>
      </p:sp>
      <p:sp>
        <p:nvSpPr>
          <p:cNvPr id="41" name="Shape 35"/>
          <p:cNvSpPr/>
          <p:nvPr/>
        </p:nvSpPr>
        <p:spPr>
          <a:xfrm>
            <a:off x="4572000" y="4434840"/>
            <a:ext cx="274320" cy="274320"/>
          </a:xfrm>
          <a:prstGeom prst="ellipse">
            <a:avLst/>
          </a:prstGeom>
          <a:solidFill>
            <a:srgbClr val="D9A441"/>
          </a:solidFill>
          <a:ln/>
        </p:spPr>
      </p:sp>
      <p:sp>
        <p:nvSpPr>
          <p:cNvPr id="42" name="Text 36"/>
          <p:cNvSpPr/>
          <p:nvPr/>
        </p:nvSpPr>
        <p:spPr>
          <a:xfrm>
            <a:off x="4572000" y="44348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3" name="Text 37"/>
          <p:cNvSpPr/>
          <p:nvPr/>
        </p:nvSpPr>
        <p:spPr>
          <a:xfrm>
            <a:off x="4983480" y="4462272"/>
            <a:ext cx="2606040" cy="256032"/>
          </a:xfrm>
          <a:prstGeom prst="rect">
            <a:avLst/>
          </a:prstGeom>
          <a:noFill/>
          <a:ln/>
        </p:spPr>
        <p:txBody>
          <a:bodyPr wrap="square" lIns="0" tIns="0" rIns="0" bIns="0" rtlCol="0" anchor="ctr"/>
          <a:lstStyle/>
          <a:p>
            <a:pPr algn="l" indent="0" marL="0">
              <a:buNone/>
            </a:pPr>
            <a:r>
              <a:rPr lang="en-US" sz="1050" b="1" dirty="0">
                <a:solidFill>
                  <a:srgbClr val="20264A"/>
                </a:solidFill>
                <a:latin typeface="Courier New" pitchFamily="34" charset="0"/>
                <a:ea typeface="Courier New" pitchFamily="34" charset="-122"/>
                <a:cs typeface="Courier New" pitchFamily="34" charset="-120"/>
              </a:rPr>
              <a:t>GET /template-screens/:template_id</a:t>
            </a:r>
            <a:endParaRPr lang="en-US" sz="1050" dirty="0"/>
          </a:p>
        </p:txBody>
      </p:sp>
      <p:sp>
        <p:nvSpPr>
          <p:cNvPr id="44" name="Shape 38"/>
          <p:cNvSpPr/>
          <p:nvPr/>
        </p:nvSpPr>
        <p:spPr>
          <a:xfrm>
            <a:off x="4709160" y="5230368"/>
            <a:ext cx="2971800" cy="0"/>
          </a:xfrm>
          <a:prstGeom prst="line">
            <a:avLst/>
          </a:prstGeom>
          <a:noFill/>
          <a:ln w="22225">
            <a:solidFill>
              <a:srgbClr val="D9A441"/>
            </a:solidFill>
            <a:prstDash val="solid"/>
          </a:ln>
        </p:spPr>
      </p:sp>
      <p:sp>
        <p:nvSpPr>
          <p:cNvPr id="45" name="Text 39"/>
          <p:cNvSpPr/>
          <p:nvPr/>
        </p:nvSpPr>
        <p:spPr>
          <a:xfrm>
            <a:off x="4727448" y="5129784"/>
            <a:ext cx="201168" cy="201168"/>
          </a:xfrm>
          <a:prstGeom prst="rect">
            <a:avLst/>
          </a:prstGeom>
          <a:noFill/>
          <a:ln/>
        </p:spPr>
        <p:txBody>
          <a:bodyPr wrap="square" lIns="0" tIns="0" rIns="0" bIns="0" rtlCol="0" anchor="ctr"/>
          <a:lstStyle/>
          <a:p>
            <a:pPr algn="ctr" indent="0" marL="0">
              <a:buNone/>
            </a:pPr>
            <a:r>
              <a:rPr lang="en-US" sz="1300" dirty="0">
                <a:solidFill>
                  <a:srgbClr val="D9A441"/>
                </a:solidFill>
              </a:rPr>
              <a:t>◂</a:t>
            </a:r>
            <a:endParaRPr lang="en-US" sz="1300" dirty="0"/>
          </a:p>
        </p:txBody>
      </p:sp>
      <p:sp>
        <p:nvSpPr>
          <p:cNvPr id="46" name="Text 40"/>
          <p:cNvSpPr/>
          <p:nvPr/>
        </p:nvSpPr>
        <p:spPr>
          <a:xfrm>
            <a:off x="4846320" y="4937760"/>
            <a:ext cx="2606040" cy="256032"/>
          </a:xfrm>
          <a:prstGeom prst="rect">
            <a:avLst/>
          </a:prstGeom>
          <a:noFill/>
          <a:ln/>
        </p:spPr>
        <p:txBody>
          <a:bodyPr wrap="square" lIns="0" tIns="0" rIns="0" bIns="0" rtlCol="0" anchor="ctr"/>
          <a:lstStyle/>
          <a:p>
            <a:pPr algn="r" indent="0" marL="0">
              <a:buNone/>
            </a:pPr>
            <a:r>
              <a:rPr lang="en-US" sz="1050" dirty="0">
                <a:solidFill>
                  <a:srgbClr val="20264A"/>
                </a:solidFill>
                <a:latin typeface="Calibri" pitchFamily="34" charset="0"/>
                <a:ea typeface="Calibri" pitchFamily="34" charset="-122"/>
                <a:cs typeface="Calibri" pitchFamily="34" charset="-120"/>
              </a:rPr>
              <a:t>componentId → fields map</a:t>
            </a:r>
            <a:endParaRPr lang="en-US" sz="1050" dirty="0"/>
          </a:p>
        </p:txBody>
      </p:sp>
      <p:sp>
        <p:nvSpPr>
          <p:cNvPr id="47" name="Shape 41"/>
          <p:cNvSpPr/>
          <p:nvPr/>
        </p:nvSpPr>
        <p:spPr>
          <a:xfrm>
            <a:off x="1737360" y="5705856"/>
            <a:ext cx="2971800" cy="0"/>
          </a:xfrm>
          <a:prstGeom prst="line">
            <a:avLst/>
          </a:prstGeom>
          <a:noFill/>
          <a:ln w="22225">
            <a:solidFill>
              <a:srgbClr val="5B6B8C"/>
            </a:solidFill>
            <a:prstDash val="solid"/>
          </a:ln>
        </p:spPr>
      </p:sp>
      <p:sp>
        <p:nvSpPr>
          <p:cNvPr id="48" name="Text 42"/>
          <p:cNvSpPr/>
          <p:nvPr/>
        </p:nvSpPr>
        <p:spPr>
          <a:xfrm>
            <a:off x="4507992" y="5605272"/>
            <a:ext cx="201168" cy="201168"/>
          </a:xfrm>
          <a:prstGeom prst="rect">
            <a:avLst/>
          </a:prstGeom>
          <a:noFill/>
          <a:ln/>
        </p:spPr>
        <p:txBody>
          <a:bodyPr wrap="square" lIns="0" tIns="0" rIns="0" bIns="0" rtlCol="0" anchor="ctr"/>
          <a:lstStyle/>
          <a:p>
            <a:pPr algn="ctr" indent="0" marL="0">
              <a:buNone/>
            </a:pPr>
            <a:r>
              <a:rPr lang="en-US" sz="1300" dirty="0">
                <a:solidFill>
                  <a:srgbClr val="5B6B8C"/>
                </a:solidFill>
              </a:rPr>
              <a:t>▸</a:t>
            </a:r>
            <a:endParaRPr lang="en-US" sz="1300" dirty="0"/>
          </a:p>
        </p:txBody>
      </p:sp>
      <p:sp>
        <p:nvSpPr>
          <p:cNvPr id="49" name="Text 43"/>
          <p:cNvSpPr/>
          <p:nvPr/>
        </p:nvSpPr>
        <p:spPr>
          <a:xfrm>
            <a:off x="1874520" y="5413248"/>
            <a:ext cx="2606040" cy="256032"/>
          </a:xfrm>
          <a:prstGeom prst="rect">
            <a:avLst/>
          </a:prstGeom>
          <a:noFill/>
          <a:ln/>
        </p:spPr>
        <p:txBody>
          <a:bodyPr wrap="square" lIns="0" tIns="0" rIns="0" bIns="0" rtlCol="0" anchor="ctr"/>
          <a:lstStyle/>
          <a:p>
            <a:pPr algn="l" indent="0" marL="0">
              <a:buNone/>
            </a:pPr>
            <a:r>
              <a:rPr lang="en-US" sz="1050" dirty="0">
                <a:solidFill>
                  <a:srgbClr val="20264A"/>
                </a:solidFill>
                <a:latin typeface="Calibri" pitchFamily="34" charset="0"/>
                <a:ea typeface="Calibri" pitchFamily="34" charset="-122"/>
                <a:cs typeface="Calibri" pitchFamily="34" charset="-120"/>
              </a:rPr>
              <a:t>fill form (prefilled) + submit</a:t>
            </a:r>
            <a:endParaRPr lang="en-US" sz="1050" dirty="0"/>
          </a:p>
        </p:txBody>
      </p:sp>
      <p:sp>
        <p:nvSpPr>
          <p:cNvPr id="50" name="Shape 44"/>
          <p:cNvSpPr/>
          <p:nvPr/>
        </p:nvSpPr>
        <p:spPr>
          <a:xfrm>
            <a:off x="4709160" y="6181344"/>
            <a:ext cx="5943600" cy="0"/>
          </a:xfrm>
          <a:prstGeom prst="line">
            <a:avLst/>
          </a:prstGeom>
          <a:noFill/>
          <a:ln w="22225">
            <a:solidFill>
              <a:srgbClr val="5B6B8C"/>
            </a:solidFill>
            <a:prstDash val="solid"/>
          </a:ln>
        </p:spPr>
      </p:sp>
      <p:sp>
        <p:nvSpPr>
          <p:cNvPr id="51" name="Text 45"/>
          <p:cNvSpPr/>
          <p:nvPr/>
        </p:nvSpPr>
        <p:spPr>
          <a:xfrm>
            <a:off x="10451592" y="6080760"/>
            <a:ext cx="201168" cy="201168"/>
          </a:xfrm>
          <a:prstGeom prst="rect">
            <a:avLst/>
          </a:prstGeom>
          <a:noFill/>
          <a:ln/>
        </p:spPr>
        <p:txBody>
          <a:bodyPr wrap="square" lIns="0" tIns="0" rIns="0" bIns="0" rtlCol="0" anchor="ctr"/>
          <a:lstStyle/>
          <a:p>
            <a:pPr algn="ctr" indent="0" marL="0">
              <a:buNone/>
            </a:pPr>
            <a:r>
              <a:rPr lang="en-US" sz="1300" dirty="0">
                <a:solidFill>
                  <a:srgbClr val="5B6B8C"/>
                </a:solidFill>
              </a:rPr>
              <a:t>▸</a:t>
            </a:r>
            <a:endParaRPr lang="en-US" sz="1300" dirty="0"/>
          </a:p>
        </p:txBody>
      </p:sp>
      <p:sp>
        <p:nvSpPr>
          <p:cNvPr id="52" name="Shape 46"/>
          <p:cNvSpPr/>
          <p:nvPr/>
        </p:nvSpPr>
        <p:spPr>
          <a:xfrm>
            <a:off x="4572000" y="5861304"/>
            <a:ext cx="274320" cy="274320"/>
          </a:xfrm>
          <a:prstGeom prst="ellipse">
            <a:avLst/>
          </a:prstGeom>
          <a:solidFill>
            <a:srgbClr val="5B6B8C"/>
          </a:solidFill>
          <a:ln/>
        </p:spPr>
      </p:sp>
      <p:sp>
        <p:nvSpPr>
          <p:cNvPr id="53" name="Text 47"/>
          <p:cNvSpPr/>
          <p:nvPr/>
        </p:nvSpPr>
        <p:spPr>
          <a:xfrm>
            <a:off x="4572000" y="586130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48"/>
          <p:cNvSpPr/>
          <p:nvPr/>
        </p:nvSpPr>
        <p:spPr>
          <a:xfrm>
            <a:off x="4983480" y="5888736"/>
            <a:ext cx="5577840" cy="256032"/>
          </a:xfrm>
          <a:prstGeom prst="rect">
            <a:avLst/>
          </a:prstGeom>
          <a:noFill/>
          <a:ln/>
        </p:spPr>
        <p:txBody>
          <a:bodyPr wrap="square" lIns="0" tIns="0" rIns="0" bIns="0" rtlCol="0" anchor="ctr"/>
          <a:lstStyle/>
          <a:p>
            <a:pPr algn="l" indent="0" marL="0">
              <a:buNone/>
            </a:pPr>
            <a:r>
              <a:rPr lang="en-US" sz="1050" dirty="0">
                <a:solidFill>
                  <a:srgbClr val="20264A"/>
                </a:solidFill>
                <a:latin typeface="Calibri" pitchFamily="34" charset="0"/>
                <a:ea typeface="Calibri" pitchFamily="34" charset="-122"/>
                <a:cs typeface="Calibri" pitchFamily="34" charset="-120"/>
              </a:rPr>
              <a:t>submit → next screenCode</a:t>
            </a:r>
            <a:endParaRPr lang="en-US" sz="1050" dirty="0"/>
          </a:p>
        </p:txBody>
      </p:sp>
      <p:sp>
        <p:nvSpPr>
          <p:cNvPr id="55" name="Shape 49"/>
          <p:cNvSpPr/>
          <p:nvPr/>
        </p:nvSpPr>
        <p:spPr>
          <a:xfrm>
            <a:off x="4389120" y="4434840"/>
            <a:ext cx="6583680" cy="2020824"/>
          </a:xfrm>
          <a:prstGeom prst="roundRect">
            <a:avLst>
              <a:gd name="adj" fmla="val 2715"/>
            </a:avLst>
          </a:prstGeom>
          <a:ln w="15875">
            <a:solidFill>
              <a:srgbClr val="D9A441"/>
            </a:solidFill>
            <a:prstDash val="dash"/>
          </a:ln>
        </p:spPr>
      </p:sp>
      <p:sp>
        <p:nvSpPr>
          <p:cNvPr id="56" name="Text 50"/>
          <p:cNvSpPr/>
          <p:nvPr/>
        </p:nvSpPr>
        <p:spPr>
          <a:xfrm>
            <a:off x="4389120" y="4178808"/>
            <a:ext cx="3291840" cy="237744"/>
          </a:xfrm>
          <a:prstGeom prst="rect">
            <a:avLst/>
          </a:prstGeom>
          <a:noFill/>
          <a:ln/>
        </p:spPr>
        <p:txBody>
          <a:bodyPr wrap="square" lIns="0" tIns="0" rIns="0" bIns="0" rtlCol="0" anchor="ctr"/>
          <a:lstStyle/>
          <a:p>
            <a:pPr indent="0" marL="0">
              <a:buNone/>
            </a:pPr>
            <a:r>
              <a:rPr lang="en-US" sz="1000" i="1" dirty="0">
                <a:solidFill>
                  <a:srgbClr val="D9A441"/>
                </a:solidFill>
                <a:latin typeface="Calibri" pitchFamily="34" charset="0"/>
                <a:ea typeface="Calibri" pitchFamily="34" charset="-122"/>
                <a:cs typeface="Calibri" pitchFamily="34" charset="-120"/>
              </a:rPr>
              <a:t>loop — repeat until terminal screen</a:t>
            </a:r>
            <a:endParaRPr lang="en-US" sz="1000" dirty="0"/>
          </a:p>
        </p:txBody>
      </p:sp>
      <p:sp>
        <p:nvSpPr>
          <p:cNvPr id="57" name="Text 5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58" name="Text 52"/>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NAVIGATOR API</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Schema &amp; Endpoint</a:t>
            </a:r>
            <a:endParaRPr lang="en-US" sz="3000" dirty="0"/>
          </a:p>
        </p:txBody>
      </p:sp>
      <p:sp>
        <p:nvSpPr>
          <p:cNvPr id="4" name="Shape 2"/>
          <p:cNvSpPr/>
          <p:nvPr/>
        </p:nvSpPr>
        <p:spPr>
          <a:xfrm>
            <a:off x="548640" y="1508760"/>
            <a:ext cx="5394960" cy="1005840"/>
          </a:xfrm>
          <a:prstGeom prst="roundRect">
            <a:avLst>
              <a:gd name="adj" fmla="val 7273"/>
            </a:avLst>
          </a:prstGeom>
          <a:solidFill>
            <a:srgbClr val="F4F7FD"/>
          </a:solidFill>
          <a:ln/>
          <a:effectLst>
            <a:outerShdw sx="100000" sy="100000" kx="0" ky="0" algn="bl" rotWithShape="0" blurRad="88900" dist="25400" dir="5400000">
              <a:srgbClr val="000000">
                <a:alpha val="10000"/>
              </a:srgbClr>
            </a:outerShdw>
          </a:effectLst>
        </p:spPr>
      </p:sp>
      <p:sp>
        <p:nvSpPr>
          <p:cNvPr id="5" name="Text 3"/>
          <p:cNvSpPr/>
          <p:nvPr/>
        </p:nvSpPr>
        <p:spPr>
          <a:xfrm>
            <a:off x="822960" y="1737360"/>
            <a:ext cx="4937760" cy="5486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Schema:  </a:t>
            </a:r>
            <a:pPr indent="0" marL="0">
              <a:buNone/>
            </a:pPr>
            <a:r>
              <a:rPr lang="en-US" sz="1250" b="1" dirty="0">
                <a:solidFill>
                  <a:srgbClr val="D9A441"/>
                </a:solidFill>
                <a:latin typeface="Courier New" pitchFamily="34" charset="0"/>
                <a:ea typeface="Courier New" pitchFamily="34" charset="-122"/>
                <a:cs typeface="Courier New" pitchFamily="34" charset="-120"/>
              </a:rPr>
              <a:t>subJourneyId</a:t>
            </a:r>
            <a:pPr indent="0" marL="0">
              <a:buNone/>
            </a:pPr>
            <a:r>
              <a:rPr lang="en-US" sz="1250" dirty="0">
                <a:solidFill>
                  <a:srgbClr val="20264A"/>
                </a:solidFill>
                <a:latin typeface="Calibri" pitchFamily="34" charset="0"/>
                <a:ea typeface="Calibri" pitchFamily="34" charset="-122"/>
                <a:cs typeface="Calibri" pitchFamily="34" charset="-120"/>
              </a:rPr>
              <a:t> (unique)  +  </a:t>
            </a:r>
            <a:pPr indent="0" marL="0">
              <a:buNone/>
            </a:pPr>
            <a:r>
              <a:rPr lang="en-US" sz="1250" b="1" dirty="0">
                <a:solidFill>
                  <a:srgbClr val="D9A441"/>
                </a:solidFill>
                <a:latin typeface="Courier New" pitchFamily="34" charset="0"/>
                <a:ea typeface="Courier New" pitchFamily="34" charset="-122"/>
                <a:cs typeface="Courier New" pitchFamily="34" charset="-120"/>
              </a:rPr>
              <a:t>screens</a:t>
            </a:r>
            <a:pPr indent="0" marL="0">
              <a:buNone/>
            </a:pPr>
            <a:r>
              <a:rPr lang="en-US" sz="1250" dirty="0">
                <a:solidFill>
                  <a:srgbClr val="20264A"/>
                </a:solidFill>
                <a:latin typeface="Calibri" pitchFamily="34" charset="0"/>
                <a:ea typeface="Calibri" pitchFamily="34" charset="-122"/>
                <a:cs typeface="Calibri" pitchFamily="34" charset="-120"/>
              </a:rPr>
              <a:t> (repeatable screen-entry)</a:t>
            </a:r>
            <a:endParaRPr lang="en-US" sz="1250" dirty="0"/>
          </a:p>
        </p:txBody>
      </p:sp>
      <p:sp>
        <p:nvSpPr>
          <p:cNvPr id="6" name="Text 4"/>
          <p:cNvSpPr/>
          <p:nvPr/>
        </p:nvSpPr>
        <p:spPr>
          <a:xfrm>
            <a:off x="548640" y="2651760"/>
            <a:ext cx="5394960" cy="36576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GET /navigators/:journeyCode</a:t>
            </a:r>
            <a:endParaRPr lang="en-US" sz="1500" dirty="0"/>
          </a:p>
        </p:txBody>
      </p:sp>
      <p:sp>
        <p:nvSpPr>
          <p:cNvPr id="7" name="Text 5"/>
          <p:cNvSpPr/>
          <p:nvPr/>
        </p:nvSpPr>
        <p:spPr>
          <a:xfrm>
            <a:off x="548640" y="3063240"/>
            <a:ext cx="5394960" cy="457200"/>
          </a:xfrm>
          <a:prstGeom prst="rect">
            <a:avLst/>
          </a:prstGeom>
          <a:noFill/>
          <a:ln/>
        </p:spPr>
        <p:txBody>
          <a:bodyPr wrap="square" lIns="0" tIns="0" rIns="0" bIns="0" rtlCol="0" anchor="ctr"/>
          <a:lstStyle/>
          <a:p>
            <a:pPr indent="0" marL="0">
              <a:buNone/>
            </a:pPr>
            <a:r>
              <a:rPr lang="en-US" sz="1250" i="1" dirty="0">
                <a:solidFill>
                  <a:srgbClr val="5B6B8C"/>
                </a:solidFill>
                <a:latin typeface="Calibri" pitchFamily="34" charset="0"/>
                <a:ea typeface="Calibri" pitchFamily="34" charset="-122"/>
                <a:cs typeface="Calibri" pitchFamily="34" charset="-120"/>
              </a:rPr>
              <a:t>Called once, at the start of a journey, before the user has seen a single screen.</a:t>
            </a:r>
            <a:endParaRPr lang="en-US" sz="1250" dirty="0"/>
          </a:p>
        </p:txBody>
      </p:sp>
      <p:sp>
        <p:nvSpPr>
          <p:cNvPr id="8" name="Shape 6"/>
          <p:cNvSpPr/>
          <p:nvPr/>
        </p:nvSpPr>
        <p:spPr>
          <a:xfrm>
            <a:off x="548640" y="3749040"/>
            <a:ext cx="5394960" cy="2514600"/>
          </a:xfrm>
          <a:prstGeom prst="roundRect">
            <a:avLst>
              <a:gd name="adj" fmla="val 2909"/>
            </a:avLst>
          </a:prstGeom>
          <a:solidFill>
            <a:srgbClr val="CADCFC"/>
          </a:solidFill>
          <a:ln/>
          <a:effectLst>
            <a:outerShdw sx="100000" sy="100000" kx="0" ky="0" algn="bl" rotWithShape="0" blurRad="88900" dist="25400" dir="5400000">
              <a:srgbClr val="000000">
                <a:alpha val="10000"/>
              </a:srgbClr>
            </a:outerShdw>
          </a:effectLst>
        </p:spPr>
      </p:sp>
      <p:sp>
        <p:nvSpPr>
          <p:cNvPr id="9" name="Text 7"/>
          <p:cNvSpPr/>
          <p:nvPr/>
        </p:nvSpPr>
        <p:spPr>
          <a:xfrm>
            <a:off x="822960" y="3931920"/>
            <a:ext cx="484632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Each screen entry carries:</a:t>
            </a:r>
            <a:endParaRPr lang="en-US" sz="1250" dirty="0"/>
          </a:p>
        </p:txBody>
      </p:sp>
      <p:sp>
        <p:nvSpPr>
          <p:cNvPr id="10" name="Text 8"/>
          <p:cNvSpPr/>
          <p:nvPr/>
        </p:nvSpPr>
        <p:spPr>
          <a:xfrm>
            <a:off x="822960" y="4343400"/>
            <a:ext cx="4846320" cy="411480"/>
          </a:xfrm>
          <a:prstGeom prst="rect">
            <a:avLst/>
          </a:prstGeom>
          <a:noFill/>
          <a:ln/>
        </p:spPr>
        <p:txBody>
          <a:bodyPr wrap="square" lIns="0" tIns="0" rIns="0" bIns="0" rtlCol="0" anchor="ctr"/>
          <a:lstStyle/>
          <a:p>
            <a:pPr indent="0" marL="0">
              <a:buNone/>
            </a:pPr>
            <a:r>
              <a:rPr lang="en-US" sz="1200" b="1" dirty="0">
                <a:solidFill>
                  <a:srgbClr val="D9A441"/>
                </a:solidFill>
                <a:latin typeface="Courier New" pitchFamily="34" charset="0"/>
                <a:ea typeface="Courier New" pitchFamily="34" charset="-122"/>
                <a:cs typeface="Courier New" pitchFamily="34" charset="-120"/>
              </a:rPr>
              <a:t>screenCode</a:t>
            </a:r>
            <a:pPr indent="0" marL="0">
              <a:buNone/>
            </a:pPr>
            <a:r>
              <a:rPr lang="en-US" sz="1200" dirty="0">
                <a:solidFill>
                  <a:srgbClr val="20264A"/>
                </a:solidFill>
                <a:latin typeface="Calibri" pitchFamily="34" charset="0"/>
                <a:ea typeface="Calibri" pitchFamily="34" charset="-122"/>
                <a:cs typeface="Calibri" pitchFamily="34" charset="-120"/>
              </a:rPr>
              <a:t>  —  matches the orchestrator's screenCode</a:t>
            </a:r>
            <a:endParaRPr lang="en-US" sz="1200" dirty="0"/>
          </a:p>
        </p:txBody>
      </p:sp>
      <p:sp>
        <p:nvSpPr>
          <p:cNvPr id="11" name="Text 9"/>
          <p:cNvSpPr/>
          <p:nvPr/>
        </p:nvSpPr>
        <p:spPr>
          <a:xfrm>
            <a:off x="822960" y="4846320"/>
            <a:ext cx="4846320" cy="411480"/>
          </a:xfrm>
          <a:prstGeom prst="rect">
            <a:avLst/>
          </a:prstGeom>
          <a:noFill/>
          <a:ln/>
        </p:spPr>
        <p:txBody>
          <a:bodyPr wrap="square" lIns="0" tIns="0" rIns="0" bIns="0" rtlCol="0" anchor="ctr"/>
          <a:lstStyle/>
          <a:p>
            <a:pPr indent="0" marL="0">
              <a:buNone/>
            </a:pPr>
            <a:r>
              <a:rPr lang="en-US" sz="1200" b="1" dirty="0">
                <a:solidFill>
                  <a:srgbClr val="D9A441"/>
                </a:solidFill>
                <a:latin typeface="Courier New" pitchFamily="34" charset="0"/>
                <a:ea typeface="Courier New" pitchFamily="34" charset="-122"/>
                <a:cs typeface="Courier New" pitchFamily="34" charset="-120"/>
              </a:rPr>
              <a:t>screenName</a:t>
            </a:r>
            <a:pPr indent="0" marL="0">
              <a:buNone/>
            </a:pPr>
            <a:r>
              <a:rPr lang="en-US" sz="1200" dirty="0">
                <a:solidFill>
                  <a:srgbClr val="20264A"/>
                </a:solidFill>
                <a:latin typeface="Calibri" pitchFamily="34" charset="0"/>
                <a:ea typeface="Calibri" pitchFamily="34" charset="-122"/>
                <a:cs typeface="Calibri" pitchFamily="34" charset="-120"/>
              </a:rPr>
              <a:t>  —  human-readable label</a:t>
            </a:r>
            <a:endParaRPr lang="en-US" sz="1200" dirty="0"/>
          </a:p>
        </p:txBody>
      </p:sp>
      <p:sp>
        <p:nvSpPr>
          <p:cNvPr id="12" name="Text 10"/>
          <p:cNvSpPr/>
          <p:nvPr/>
        </p:nvSpPr>
        <p:spPr>
          <a:xfrm>
            <a:off x="822960" y="5349240"/>
            <a:ext cx="4846320" cy="411480"/>
          </a:xfrm>
          <a:prstGeom prst="rect">
            <a:avLst/>
          </a:prstGeom>
          <a:noFill/>
          <a:ln/>
        </p:spPr>
        <p:txBody>
          <a:bodyPr wrap="square" lIns="0" tIns="0" rIns="0" bIns="0" rtlCol="0" anchor="ctr"/>
          <a:lstStyle/>
          <a:p>
            <a:pPr indent="0" marL="0">
              <a:buNone/>
            </a:pPr>
            <a:r>
              <a:rPr lang="en-US" sz="1200" b="1" dirty="0">
                <a:solidFill>
                  <a:srgbClr val="D9A441"/>
                </a:solidFill>
                <a:latin typeface="Courier New" pitchFamily="34" charset="0"/>
                <a:ea typeface="Courier New" pitchFamily="34" charset="-122"/>
                <a:cs typeface="Courier New" pitchFamily="34" charset="-120"/>
              </a:rPr>
              <a:t>sequence</a:t>
            </a:r>
            <a:pPr indent="0" marL="0">
              <a:buNone/>
            </a:pPr>
            <a:r>
              <a:rPr lang="en-US" sz="1200" dirty="0">
                <a:solidFill>
                  <a:srgbClr val="20264A"/>
                </a:solidFill>
                <a:latin typeface="Calibri" pitchFamily="34" charset="0"/>
                <a:ea typeface="Calibri" pitchFamily="34" charset="-122"/>
                <a:cs typeface="Calibri" pitchFamily="34" charset="-120"/>
              </a:rPr>
              <a:t>  —  position in the journey</a:t>
            </a:r>
            <a:endParaRPr lang="en-US" sz="1200" dirty="0"/>
          </a:p>
        </p:txBody>
      </p:sp>
      <p:sp>
        <p:nvSpPr>
          <p:cNvPr id="13" name="Shape 11"/>
          <p:cNvSpPr/>
          <p:nvPr/>
        </p:nvSpPr>
        <p:spPr>
          <a:xfrm>
            <a:off x="6309360" y="1508760"/>
            <a:ext cx="5349240" cy="2286000"/>
          </a:xfrm>
          <a:prstGeom prst="roundRect">
            <a:avLst>
              <a:gd name="adj" fmla="val 3200"/>
            </a:avLst>
          </a:prstGeom>
          <a:solidFill>
            <a:srgbClr val="16204A"/>
          </a:solidFill>
          <a:ln/>
          <a:effectLst>
            <a:outerShdw sx="100000" sy="100000" kx="0" ky="0" algn="bl" rotWithShape="0" blurRad="101600" dist="38100" dir="5400000">
              <a:srgbClr val="000000">
                <a:alpha val="18000"/>
              </a:srgbClr>
            </a:outerShdw>
          </a:effectLst>
        </p:spPr>
      </p:sp>
      <p:sp>
        <p:nvSpPr>
          <p:cNvPr id="14" name="Text 12"/>
          <p:cNvSpPr/>
          <p:nvPr/>
        </p:nvSpPr>
        <p:spPr>
          <a:xfrm>
            <a:off x="6537960" y="1691640"/>
            <a:ext cx="4892040" cy="1920240"/>
          </a:xfrm>
          <a:prstGeom prst="rect">
            <a:avLst/>
          </a:prstGeom>
          <a:noFill/>
          <a:ln/>
        </p:spPr>
        <p:txBody>
          <a:bodyPr wrap="square" lIns="0" tIns="0" rIns="0" bIns="0" rtlCol="0" anchor="t"/>
          <a:lstStyle/>
          <a:p>
            <a:pPr indent="0" marL="0">
              <a:lnSpc>
                <a:spcPct val="115000"/>
              </a:lnSpc>
              <a:buNone/>
            </a:pPr>
            <a:r>
              <a:rPr lang="en-US" sz="1250" dirty="0">
                <a:solidFill>
                  <a:srgbClr val="CADCFC"/>
                </a:solidFill>
                <a:latin typeface="Courier New" pitchFamily="34" charset="0"/>
                <a:ea typeface="Courier New" pitchFamily="34" charset="-122"/>
                <a:cs typeface="Courier New" pitchFamily="34" charset="-120"/>
              </a:rPr>
              <a:t>// GET /navigators/JOURNEY_CODE</a:t>
            </a:r>
            <a:endParaRPr lang="en-US" sz="1250" dirty="0"/>
          </a:p>
          <a:p>
            <a:pPr indent="0" marL="0">
              <a:lnSpc>
                <a:spcPct val="115000"/>
              </a:lnSpc>
              <a:buNone/>
            </a:pPr>
            <a:r>
              <a:rPr lang="en-US" sz="1250" dirty="0">
                <a:solidFill>
                  <a:srgbClr val="CADCFC"/>
                </a:solidFill>
                <a:latin typeface="Courier New" pitchFamily="34" charset="0"/>
                <a:ea typeface="Courier New" pitchFamily="34" charset="-122"/>
                <a:cs typeface="Courier New" pitchFamily="34" charset="-120"/>
              </a:rPr>
              <a:t>[</a:t>
            </a:r>
            <a:endParaRPr lang="en-US" sz="1250" dirty="0"/>
          </a:p>
          <a:p>
            <a:pPr indent="0" marL="0">
              <a:lnSpc>
                <a:spcPct val="115000"/>
              </a:lnSpc>
              <a:buNone/>
            </a:pPr>
            <a:r>
              <a:rPr lang="en-US" sz="1250" dirty="0">
                <a:solidFill>
                  <a:srgbClr val="CADCFC"/>
                </a:solidFill>
                <a:latin typeface="Courier New" pitchFamily="34" charset="0"/>
                <a:ea typeface="Courier New" pitchFamily="34" charset="-122"/>
                <a:cs typeface="Courier New" pitchFamily="34" charset="-120"/>
              </a:rPr>
              <a:t>  { "screenCode": "S2U",  "screenName": "...", "sequence": 1 },</a:t>
            </a:r>
            <a:endParaRPr lang="en-US" sz="1250" dirty="0"/>
          </a:p>
          <a:p>
            <a:pPr indent="0" marL="0">
              <a:lnSpc>
                <a:spcPct val="115000"/>
              </a:lnSpc>
              <a:buNone/>
            </a:pPr>
            <a:r>
              <a:rPr lang="en-US" sz="1250" dirty="0">
                <a:solidFill>
                  <a:srgbClr val="CADCFC"/>
                </a:solidFill>
                <a:latin typeface="Courier New" pitchFamily="34" charset="0"/>
                <a:ea typeface="Courier New" pitchFamily="34" charset="-122"/>
                <a:cs typeface="Courier New" pitchFamily="34" charset="-120"/>
              </a:rPr>
              <a:t>  { "screenCode": "TNC",  "screenName": "...", "sequence": 2 },</a:t>
            </a:r>
            <a:endParaRPr lang="en-US" sz="1250" dirty="0"/>
          </a:p>
          <a:p>
            <a:pPr indent="0" marL="0">
              <a:lnSpc>
                <a:spcPct val="115000"/>
              </a:lnSpc>
              <a:buNone/>
            </a:pPr>
            <a:r>
              <a:rPr lang="en-US" sz="1250" dirty="0">
                <a:solidFill>
                  <a:srgbClr val="CADCFC"/>
                </a:solidFill>
                <a:latin typeface="Courier New" pitchFamily="34" charset="0"/>
                <a:ea typeface="Courier New" pitchFamily="34" charset="-122"/>
                <a:cs typeface="Courier New" pitchFamily="34" charset="-120"/>
              </a:rPr>
              <a:t>  { "screenCode": "AUTO", "screenName": "...", "sequence": 3 }</a:t>
            </a:r>
            <a:endParaRPr lang="en-US" sz="1250" dirty="0"/>
          </a:p>
          <a:p>
            <a:pPr indent="0" marL="0">
              <a:lnSpc>
                <a:spcPct val="115000"/>
              </a:lnSpc>
              <a:buNone/>
            </a:pPr>
            <a:r>
              <a:rPr lang="en-US" sz="1250" dirty="0">
                <a:solidFill>
                  <a:srgbClr val="CADCFC"/>
                </a:solidFill>
                <a:latin typeface="Courier New" pitchFamily="34" charset="0"/>
                <a:ea typeface="Courier New" pitchFamily="34" charset="-122"/>
                <a:cs typeface="Courier New" pitchFamily="34" charset="-120"/>
              </a:rPr>
              <a:t>]</a:t>
            </a:r>
            <a:endParaRPr lang="en-US" sz="1250" dirty="0"/>
          </a:p>
        </p:txBody>
      </p:sp>
      <p:sp>
        <p:nvSpPr>
          <p:cNvPr id="15" name="Text 13"/>
          <p:cNvSpPr/>
          <p:nvPr/>
        </p:nvSpPr>
        <p:spPr>
          <a:xfrm>
            <a:off x="6309360" y="3931920"/>
            <a:ext cx="5349240" cy="365760"/>
          </a:xfrm>
          <a:prstGeom prst="rect">
            <a:avLst/>
          </a:prstGeom>
          <a:noFill/>
          <a:ln/>
        </p:spPr>
        <p:txBody>
          <a:bodyPr wrap="square" lIns="0" tIns="0" rIns="0" bIns="0" rtlCol="0" anchor="ctr"/>
          <a:lstStyle/>
          <a:p>
            <a:pPr indent="0" marL="0">
              <a:buNone/>
            </a:pPr>
            <a:r>
              <a:rPr lang="en-US" sz="1150" i="1" dirty="0">
                <a:solidFill>
                  <a:srgbClr val="5B6B8C"/>
                </a:solidFill>
                <a:latin typeface="Calibri" pitchFamily="34" charset="0"/>
                <a:ea typeface="Calibri" pitchFamily="34" charset="-122"/>
                <a:cs typeface="Calibri" pitchFamily="34" charset="-120"/>
              </a:rPr>
              <a:t>This is exactly what you get back — no wrapper, no metadata.</a:t>
            </a:r>
            <a:endParaRPr lang="en-US" sz="1150" dirty="0"/>
          </a:p>
        </p:txBody>
      </p:sp>
      <p:sp>
        <p:nvSpPr>
          <p:cNvPr id="16" name="Text 14"/>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17" name="Text 15"/>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NAVIGATOR API</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This Shape?</a:t>
            </a:r>
            <a:endParaRPr lang="en-US" sz="3000" dirty="0"/>
          </a:p>
        </p:txBody>
      </p:sp>
      <p:sp>
        <p:nvSpPr>
          <p:cNvPr id="4" name="Shape 2"/>
          <p:cNvSpPr/>
          <p:nvPr/>
        </p:nvSpPr>
        <p:spPr>
          <a:xfrm>
            <a:off x="548640" y="1691640"/>
            <a:ext cx="11094415" cy="987552"/>
          </a:xfrm>
          <a:prstGeom prst="roundRect">
            <a:avLst>
              <a:gd name="adj" fmla="val 7407"/>
            </a:avLst>
          </a:prstGeom>
          <a:solidFill>
            <a:srgbClr val="F4F7FD"/>
          </a:solidFill>
          <a:ln/>
          <a:effectLst>
            <a:outerShdw sx="100000" sy="100000" kx="0" ky="0" algn="bl" rotWithShape="0" blurRad="88900" dist="25400" dir="5400000">
              <a:srgbClr val="000000">
                <a:alpha val="10000"/>
              </a:srgbClr>
            </a:outerShdw>
          </a:effectLst>
        </p:spPr>
      </p:sp>
      <p:sp>
        <p:nvSpPr>
          <p:cNvPr id="5" name="Shape 3"/>
          <p:cNvSpPr/>
          <p:nvPr/>
        </p:nvSpPr>
        <p:spPr>
          <a:xfrm>
            <a:off x="777240" y="1911096"/>
            <a:ext cx="548640" cy="548640"/>
          </a:xfrm>
          <a:prstGeom prst="ellipse">
            <a:avLst/>
          </a:prstGeom>
          <a:solidFill>
            <a:srgbClr val="CADCFC"/>
          </a:solidFill>
          <a:ln/>
        </p:spPr>
      </p:sp>
      <p:pic>
        <p:nvPicPr>
          <p:cNvPr id="6" name="Image 0" descr="preencoded.png">    </p:cNvPr>
          <p:cNvPicPr>
            <a:picLocks noChangeAspect="1"/>
          </p:cNvPicPr>
          <p:nvPr/>
        </p:nvPicPr>
        <p:blipFill>
          <a:blip r:embed="rId1"/>
          <a:stretch>
            <a:fillRect/>
          </a:stretch>
        </p:blipFill>
        <p:spPr>
          <a:xfrm>
            <a:off x="919886" y="2053742"/>
            <a:ext cx="263347" cy="263347"/>
          </a:xfrm>
          <a:prstGeom prst="rect">
            <a:avLst/>
          </a:prstGeom>
        </p:spPr>
      </p:pic>
      <p:sp>
        <p:nvSpPr>
          <p:cNvPr id="7" name="Text 4"/>
          <p:cNvSpPr/>
          <p:nvPr/>
        </p:nvSpPr>
        <p:spPr>
          <a:xfrm>
            <a:off x="1508760" y="1837944"/>
            <a:ext cx="3383280" cy="36576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Pre-sorted</a:t>
            </a:r>
            <a:endParaRPr lang="en-US" sz="1450" dirty="0"/>
          </a:p>
        </p:txBody>
      </p:sp>
      <p:sp>
        <p:nvSpPr>
          <p:cNvPr id="8" name="Text 5"/>
          <p:cNvSpPr/>
          <p:nvPr/>
        </p:nvSpPr>
        <p:spPr>
          <a:xfrm>
            <a:off x="5029200" y="1819656"/>
            <a:ext cx="6613855" cy="7315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Already ordered by sequence — no client-side sorting needed.</a:t>
            </a:r>
            <a:endParaRPr lang="en-US" sz="1250" dirty="0"/>
          </a:p>
        </p:txBody>
      </p:sp>
      <p:sp>
        <p:nvSpPr>
          <p:cNvPr id="9" name="Shape 6"/>
          <p:cNvSpPr/>
          <p:nvPr/>
        </p:nvSpPr>
        <p:spPr>
          <a:xfrm>
            <a:off x="548640" y="2798064"/>
            <a:ext cx="11094415" cy="987552"/>
          </a:xfrm>
          <a:prstGeom prst="roundRect">
            <a:avLst>
              <a:gd name="adj" fmla="val 7407"/>
            </a:avLst>
          </a:prstGeom>
          <a:solidFill>
            <a:srgbClr val="F4F7FD"/>
          </a:solidFill>
          <a:ln/>
          <a:effectLst>
            <a:outerShdw sx="100000" sy="100000" kx="0" ky="0" algn="bl" rotWithShape="0" blurRad="88900" dist="25400" dir="5400000">
              <a:srgbClr val="000000">
                <a:alpha val="10000"/>
              </a:srgbClr>
            </a:outerShdw>
          </a:effectLst>
        </p:spPr>
      </p:sp>
      <p:sp>
        <p:nvSpPr>
          <p:cNvPr id="10" name="Shape 7"/>
          <p:cNvSpPr/>
          <p:nvPr/>
        </p:nvSpPr>
        <p:spPr>
          <a:xfrm>
            <a:off x="777240" y="3017520"/>
            <a:ext cx="548640" cy="548640"/>
          </a:xfrm>
          <a:prstGeom prst="ellipse">
            <a:avLst/>
          </a:prstGeom>
          <a:solidFill>
            <a:srgbClr val="CADCFC"/>
          </a:solidFill>
          <a:ln/>
        </p:spPr>
      </p:sp>
      <p:pic>
        <p:nvPicPr>
          <p:cNvPr id="11" name="Image 1" descr="preencoded.png">    </p:cNvPr>
          <p:cNvPicPr>
            <a:picLocks noChangeAspect="1"/>
          </p:cNvPicPr>
          <p:nvPr/>
        </p:nvPicPr>
        <p:blipFill>
          <a:blip r:embed="rId2"/>
          <a:stretch>
            <a:fillRect/>
          </a:stretch>
        </p:blipFill>
        <p:spPr>
          <a:xfrm>
            <a:off x="919886" y="3160166"/>
            <a:ext cx="263347" cy="263347"/>
          </a:xfrm>
          <a:prstGeom prst="rect">
            <a:avLst/>
          </a:prstGeom>
        </p:spPr>
      </p:pic>
      <p:sp>
        <p:nvSpPr>
          <p:cNvPr id="12" name="Text 8"/>
          <p:cNvSpPr/>
          <p:nvPr/>
        </p:nvSpPr>
        <p:spPr>
          <a:xfrm>
            <a:off x="1508760" y="2944368"/>
            <a:ext cx="3383280" cy="36576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Pre-trimmed</a:t>
            </a:r>
            <a:endParaRPr lang="en-US" sz="1450" dirty="0"/>
          </a:p>
        </p:txBody>
      </p:sp>
      <p:sp>
        <p:nvSpPr>
          <p:cNvPr id="13" name="Text 9"/>
          <p:cNvSpPr/>
          <p:nvPr/>
        </p:nvSpPr>
        <p:spPr>
          <a:xfrm>
            <a:off x="5029200" y="2926080"/>
            <a:ext cx="6613855" cy="7315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Just three fields. No internal ids, timestamps, or draft/publish metadata to filter out.</a:t>
            </a:r>
            <a:endParaRPr lang="en-US" sz="1250" dirty="0"/>
          </a:p>
        </p:txBody>
      </p:sp>
      <p:sp>
        <p:nvSpPr>
          <p:cNvPr id="14" name="Shape 10"/>
          <p:cNvSpPr/>
          <p:nvPr/>
        </p:nvSpPr>
        <p:spPr>
          <a:xfrm>
            <a:off x="548640" y="3904488"/>
            <a:ext cx="11094415" cy="987552"/>
          </a:xfrm>
          <a:prstGeom prst="roundRect">
            <a:avLst>
              <a:gd name="adj" fmla="val 7407"/>
            </a:avLst>
          </a:prstGeom>
          <a:solidFill>
            <a:srgbClr val="F4F7FD"/>
          </a:solidFill>
          <a:ln/>
          <a:effectLst>
            <a:outerShdw sx="100000" sy="100000" kx="0" ky="0" algn="bl" rotWithShape="0" blurRad="88900" dist="25400" dir="5400000">
              <a:srgbClr val="000000">
                <a:alpha val="10000"/>
              </a:srgbClr>
            </a:outerShdw>
          </a:effectLst>
        </p:spPr>
      </p:sp>
      <p:sp>
        <p:nvSpPr>
          <p:cNvPr id="15" name="Shape 11"/>
          <p:cNvSpPr/>
          <p:nvPr/>
        </p:nvSpPr>
        <p:spPr>
          <a:xfrm>
            <a:off x="777240" y="4123944"/>
            <a:ext cx="548640" cy="548640"/>
          </a:xfrm>
          <a:prstGeom prst="ellipse">
            <a:avLst/>
          </a:prstGeom>
          <a:solidFill>
            <a:srgbClr val="CADCFC"/>
          </a:solidFill>
          <a:ln/>
        </p:spPr>
      </p:sp>
      <p:pic>
        <p:nvPicPr>
          <p:cNvPr id="16" name="Image 2" descr="preencoded.png">    </p:cNvPr>
          <p:cNvPicPr>
            <a:picLocks noChangeAspect="1"/>
          </p:cNvPicPr>
          <p:nvPr/>
        </p:nvPicPr>
        <p:blipFill>
          <a:blip r:embed="rId3"/>
          <a:stretch>
            <a:fillRect/>
          </a:stretch>
        </p:blipFill>
        <p:spPr>
          <a:xfrm>
            <a:off x="919886" y="4266590"/>
            <a:ext cx="263347" cy="263347"/>
          </a:xfrm>
          <a:prstGeom prst="rect">
            <a:avLst/>
          </a:prstGeom>
        </p:spPr>
      </p:pic>
      <p:sp>
        <p:nvSpPr>
          <p:cNvPr id="17" name="Text 12"/>
          <p:cNvSpPr/>
          <p:nvPr/>
        </p:nvSpPr>
        <p:spPr>
          <a:xfrm>
            <a:off x="1508760" y="4050792"/>
            <a:ext cx="3383280" cy="36576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lookup table, not a route list</a:t>
            </a:r>
            <a:endParaRPr lang="en-US" sz="1450" dirty="0"/>
          </a:p>
        </p:txBody>
      </p:sp>
      <p:sp>
        <p:nvSpPr>
          <p:cNvPr id="18" name="Text 13"/>
          <p:cNvSpPr/>
          <p:nvPr/>
        </p:nvSpPr>
        <p:spPr>
          <a:xfrm>
            <a:off x="5029200" y="4032504"/>
            <a:ext cx="6613855" cy="7315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Used purely to resolve a screenCode from the orchestrator into an actual screen.</a:t>
            </a:r>
            <a:endParaRPr lang="en-US" sz="1250" dirty="0"/>
          </a:p>
        </p:txBody>
      </p:sp>
      <p:sp>
        <p:nvSpPr>
          <p:cNvPr id="19" name="Shape 14"/>
          <p:cNvSpPr/>
          <p:nvPr/>
        </p:nvSpPr>
        <p:spPr>
          <a:xfrm>
            <a:off x="548640" y="5010912"/>
            <a:ext cx="11094415" cy="987552"/>
          </a:xfrm>
          <a:prstGeom prst="roundRect">
            <a:avLst>
              <a:gd name="adj" fmla="val 7407"/>
            </a:avLst>
          </a:prstGeom>
          <a:solidFill>
            <a:srgbClr val="F4F7FD"/>
          </a:solidFill>
          <a:ln/>
          <a:effectLst>
            <a:outerShdw sx="100000" sy="100000" kx="0" ky="0" algn="bl" rotWithShape="0" blurRad="88900" dist="25400" dir="5400000">
              <a:srgbClr val="000000">
                <a:alpha val="10000"/>
              </a:srgbClr>
            </a:outerShdw>
          </a:effectLst>
        </p:spPr>
      </p:sp>
      <p:sp>
        <p:nvSpPr>
          <p:cNvPr id="20" name="Shape 15"/>
          <p:cNvSpPr/>
          <p:nvPr/>
        </p:nvSpPr>
        <p:spPr>
          <a:xfrm>
            <a:off x="777240" y="5230368"/>
            <a:ext cx="548640" cy="548640"/>
          </a:xfrm>
          <a:prstGeom prst="ellipse">
            <a:avLst/>
          </a:prstGeom>
          <a:solidFill>
            <a:srgbClr val="CADCFC"/>
          </a:solidFill>
          <a:ln/>
        </p:spPr>
      </p:sp>
      <p:pic>
        <p:nvPicPr>
          <p:cNvPr id="21" name="Image 3" descr="preencoded.png">    </p:cNvPr>
          <p:cNvPicPr>
            <a:picLocks noChangeAspect="1"/>
          </p:cNvPicPr>
          <p:nvPr/>
        </p:nvPicPr>
        <p:blipFill>
          <a:blip r:embed="rId4"/>
          <a:stretch>
            <a:fillRect/>
          </a:stretch>
        </p:blipFill>
        <p:spPr>
          <a:xfrm>
            <a:off x="919886" y="5373014"/>
            <a:ext cx="263347" cy="263347"/>
          </a:xfrm>
          <a:prstGeom prst="rect">
            <a:avLst/>
          </a:prstGeom>
        </p:spPr>
      </p:pic>
      <p:sp>
        <p:nvSpPr>
          <p:cNvPr id="22" name="Text 16"/>
          <p:cNvSpPr/>
          <p:nvPr/>
        </p:nvSpPr>
        <p:spPr>
          <a:xfrm>
            <a:off x="1508760" y="5157216"/>
            <a:ext cx="3383280" cy="36576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Fetched once per journey</a:t>
            </a:r>
            <a:endParaRPr lang="en-US" sz="1450" dirty="0"/>
          </a:p>
        </p:txBody>
      </p:sp>
      <p:sp>
        <p:nvSpPr>
          <p:cNvPr id="23" name="Text 17"/>
          <p:cNvSpPr/>
          <p:nvPr/>
        </p:nvSpPr>
        <p:spPr>
          <a:xfrm>
            <a:off x="5029200" y="5138928"/>
            <a:ext cx="6613855" cy="73152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Not re-fetched on every step — kept in app state for the whole journey.</a:t>
            </a:r>
            <a:endParaRPr lang="en-US" sz="1250" dirty="0"/>
          </a:p>
        </p:txBody>
      </p:sp>
      <p:sp>
        <p:nvSpPr>
          <p:cNvPr id="24" name="Text 18"/>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25" name="Text 19"/>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TEMPLATE-SCREEN API</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Schema &amp; Endpoint</a:t>
            </a:r>
            <a:endParaRPr lang="en-US" sz="3000" dirty="0"/>
          </a:p>
        </p:txBody>
      </p:sp>
      <p:sp>
        <p:nvSpPr>
          <p:cNvPr id="4" name="Text 2"/>
          <p:cNvSpPr/>
          <p:nvPr/>
        </p:nvSpPr>
        <p:spPr>
          <a:xfrm>
            <a:off x="548640" y="1371600"/>
            <a:ext cx="11094415" cy="45720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GET /template-screens/:template_id  —  called on every step of the journey.</a:t>
            </a:r>
            <a:endParaRPr lang="en-US" sz="1400" dirty="0"/>
          </a:p>
        </p:txBody>
      </p:sp>
      <p:sp>
        <p:nvSpPr>
          <p:cNvPr id="5" name="Shape 3"/>
          <p:cNvSpPr/>
          <p:nvPr/>
        </p:nvSpPr>
        <p:spPr>
          <a:xfrm>
            <a:off x="640080" y="2057400"/>
            <a:ext cx="4206240" cy="1920240"/>
          </a:xfrm>
          <a:prstGeom prst="roundRect">
            <a:avLst>
              <a:gd name="adj" fmla="val 3810"/>
            </a:avLst>
          </a:prstGeom>
          <a:solidFill>
            <a:srgbClr val="F4F7FD"/>
          </a:solidFill>
          <a:ln/>
          <a:effectLst>
            <a:outerShdw sx="100000" sy="100000" kx="0" ky="0" algn="bl" rotWithShape="0" blurRad="88900" dist="25400" dir="5400000">
              <a:srgbClr val="000000">
                <a:alpha val="10000"/>
              </a:srgbClr>
            </a:outerShdw>
          </a:effectLst>
        </p:spPr>
      </p:sp>
      <p:sp>
        <p:nvSpPr>
          <p:cNvPr id="6" name="Text 4"/>
          <p:cNvSpPr/>
          <p:nvPr/>
        </p:nvSpPr>
        <p:spPr>
          <a:xfrm>
            <a:off x="822960" y="2240280"/>
            <a:ext cx="3840480" cy="32004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Internally: a dynamic zone (array)</a:t>
            </a:r>
            <a:endParaRPr lang="en-US" sz="1200" dirty="0"/>
          </a:p>
        </p:txBody>
      </p:sp>
      <p:sp>
        <p:nvSpPr>
          <p:cNvPr id="7" name="Shape 5"/>
          <p:cNvSpPr/>
          <p:nvPr/>
        </p:nvSpPr>
        <p:spPr>
          <a:xfrm>
            <a:off x="822960" y="2606040"/>
            <a:ext cx="3840480" cy="1143000"/>
          </a:xfrm>
          <a:prstGeom prst="roundRect">
            <a:avLst>
              <a:gd name="adj" fmla="val 6400"/>
            </a:avLst>
          </a:prstGeom>
          <a:solidFill>
            <a:srgbClr val="16204A"/>
          </a:solidFill>
          <a:ln/>
          <a:effectLst>
            <a:outerShdw sx="100000" sy="100000" kx="0" ky="0" algn="bl" rotWithShape="0" blurRad="101600" dist="38100" dir="5400000">
              <a:srgbClr val="000000">
                <a:alpha val="18000"/>
              </a:srgbClr>
            </a:outerShdw>
          </a:effectLst>
        </p:spPr>
      </p:sp>
      <p:sp>
        <p:nvSpPr>
          <p:cNvPr id="8" name="Text 6"/>
          <p:cNvSpPr/>
          <p:nvPr/>
        </p:nvSpPr>
        <p:spPr>
          <a:xfrm>
            <a:off x="1051560" y="2788920"/>
            <a:ext cx="3383280" cy="77724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  { componentId: "s2uTitle", ... },</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  { componentId: "s2uConfirm", ... }</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a:t>
            </a:r>
            <a:endParaRPr lang="en-US" sz="1150" dirty="0"/>
          </a:p>
        </p:txBody>
      </p:sp>
      <p:pic>
        <p:nvPicPr>
          <p:cNvPr id="9" name="Image 0" descr="preencoded.png">    </p:cNvPr>
          <p:cNvPicPr>
            <a:picLocks noChangeAspect="1"/>
          </p:cNvPicPr>
          <p:nvPr/>
        </p:nvPicPr>
        <p:blipFill>
          <a:blip r:embed="rId1"/>
          <a:stretch>
            <a:fillRect/>
          </a:stretch>
        </p:blipFill>
        <p:spPr>
          <a:xfrm>
            <a:off x="5074920" y="2743200"/>
            <a:ext cx="548640" cy="548640"/>
          </a:xfrm>
          <a:prstGeom prst="rect">
            <a:avLst/>
          </a:prstGeom>
        </p:spPr>
      </p:pic>
      <p:sp>
        <p:nvSpPr>
          <p:cNvPr id="10" name="Shape 7"/>
          <p:cNvSpPr/>
          <p:nvPr/>
        </p:nvSpPr>
        <p:spPr>
          <a:xfrm>
            <a:off x="5897880" y="2057400"/>
            <a:ext cx="5653735" cy="1920240"/>
          </a:xfrm>
          <a:prstGeom prst="roundRect">
            <a:avLst>
              <a:gd name="adj" fmla="val 3810"/>
            </a:avLst>
          </a:prstGeom>
          <a:solidFill>
            <a:srgbClr val="CADCFC"/>
          </a:solidFill>
          <a:ln/>
          <a:effectLst>
            <a:outerShdw sx="100000" sy="100000" kx="0" ky="0" algn="bl" rotWithShape="0" blurRad="88900" dist="25400" dir="5400000">
              <a:srgbClr val="000000">
                <a:alpha val="10000"/>
              </a:srgbClr>
            </a:outerShdw>
          </a:effectLst>
        </p:spPr>
      </p:sp>
      <p:sp>
        <p:nvSpPr>
          <p:cNvPr id="11" name="Text 8"/>
          <p:cNvSpPr/>
          <p:nvPr/>
        </p:nvSpPr>
        <p:spPr>
          <a:xfrm>
            <a:off x="6080760" y="2240280"/>
            <a:ext cx="5287975" cy="32004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What you actually receive</a:t>
            </a:r>
            <a:endParaRPr lang="en-US" sz="1200" dirty="0"/>
          </a:p>
        </p:txBody>
      </p:sp>
      <p:sp>
        <p:nvSpPr>
          <p:cNvPr id="12" name="Shape 9"/>
          <p:cNvSpPr/>
          <p:nvPr/>
        </p:nvSpPr>
        <p:spPr>
          <a:xfrm>
            <a:off x="6080760" y="2606040"/>
            <a:ext cx="5287975" cy="1143000"/>
          </a:xfrm>
          <a:prstGeom prst="roundRect">
            <a:avLst>
              <a:gd name="adj" fmla="val 6400"/>
            </a:avLst>
          </a:prstGeom>
          <a:solidFill>
            <a:srgbClr val="16204A"/>
          </a:solidFill>
          <a:ln/>
          <a:effectLst>
            <a:outerShdw sx="100000" sy="100000" kx="0" ky="0" algn="bl" rotWithShape="0" blurRad="101600" dist="38100" dir="5400000">
              <a:srgbClr val="000000">
                <a:alpha val="18000"/>
              </a:srgbClr>
            </a:outerShdw>
          </a:effectLst>
        </p:spPr>
      </p:sp>
      <p:sp>
        <p:nvSpPr>
          <p:cNvPr id="13" name="Text 10"/>
          <p:cNvSpPr/>
          <p:nvPr/>
        </p:nvSpPr>
        <p:spPr>
          <a:xfrm>
            <a:off x="6309360" y="2788920"/>
            <a:ext cx="4830775" cy="77724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  s2uTitle:   { value: "...", ... },</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  s2uConfirm: { label: "...", ... }</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a:t>
            </a:r>
            <a:endParaRPr lang="en-US" sz="1150" dirty="0"/>
          </a:p>
        </p:txBody>
      </p:sp>
      <p:sp>
        <p:nvSpPr>
          <p:cNvPr id="14" name="Shape 11"/>
          <p:cNvSpPr/>
          <p:nvPr/>
        </p:nvSpPr>
        <p:spPr>
          <a:xfrm>
            <a:off x="640080" y="4343400"/>
            <a:ext cx="10911535" cy="1828800"/>
          </a:xfrm>
          <a:prstGeom prst="roundRect">
            <a:avLst>
              <a:gd name="adj" fmla="val 4000"/>
            </a:avLst>
          </a:prstGeom>
          <a:solidFill>
            <a:srgbClr val="F4F7FD"/>
          </a:solidFill>
          <a:ln/>
          <a:effectLst>
            <a:outerShdw sx="100000" sy="100000" kx="0" ky="0" algn="bl" rotWithShape="0" blurRad="88900" dist="25400" dir="5400000">
              <a:srgbClr val="000000">
                <a:alpha val="10000"/>
              </a:srgbClr>
            </a:outerShdw>
          </a:effectLst>
        </p:spPr>
      </p:sp>
      <p:sp>
        <p:nvSpPr>
          <p:cNvPr id="15" name="Text 12"/>
          <p:cNvSpPr/>
          <p:nvPr/>
        </p:nvSpPr>
        <p:spPr>
          <a:xfrm>
            <a:off x="914400" y="4526280"/>
            <a:ext cx="10362895" cy="1463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Why a map, not an array?  </a:t>
            </a:r>
            <a:endParaRPr lang="en-US" sz="1300" dirty="0"/>
          </a:p>
          <a:p>
            <a:pPr indent="0" marL="0">
              <a:buNone/>
            </a:pPr>
            <a:r>
              <a:rPr lang="en-US" sz="1300" dirty="0">
                <a:solidFill>
                  <a:srgbClr val="20264A"/>
                </a:solidFill>
                <a:latin typeface="Calibri" pitchFamily="34" charset="0"/>
                <a:ea typeface="Calibri" pitchFamily="34" charset="-122"/>
                <a:cs typeface="Calibri" pitchFamily="34" charset="-120"/>
              </a:rPr>
              <a:t>You look up any field directly by componentId — "give me s2uTitle" — instead of scanning an array on every render. This is the single biggest thing to design your screen-rendering logic around.</a:t>
            </a:r>
            <a:endParaRPr lang="en-US" sz="1300" dirty="0"/>
          </a:p>
        </p:txBody>
      </p:sp>
      <p:sp>
        <p:nvSpPr>
          <p:cNvPr id="16" name="Text 13"/>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17" name="Text 14"/>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TEMPLATE-SCREEN API</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defaultValue Contract</a:t>
            </a:r>
            <a:endParaRPr lang="en-US" sz="3000" dirty="0"/>
          </a:p>
        </p:txBody>
      </p:sp>
      <p:sp>
        <p:nvSpPr>
          <p:cNvPr id="4" name="Text 2"/>
          <p:cNvSpPr/>
          <p:nvPr/>
        </p:nvSpPr>
        <p:spPr>
          <a:xfrm>
            <a:off x="548640" y="1417320"/>
            <a:ext cx="11094415"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one field that matters most for integration.</a:t>
            </a:r>
            <a:endParaRPr lang="en-US" sz="1500" dirty="0"/>
          </a:p>
        </p:txBody>
      </p:sp>
      <p:sp>
        <p:nvSpPr>
          <p:cNvPr id="5" name="Shape 3"/>
          <p:cNvSpPr/>
          <p:nvPr/>
        </p:nvSpPr>
        <p:spPr>
          <a:xfrm>
            <a:off x="723748" y="2148840"/>
            <a:ext cx="5120640" cy="3291840"/>
          </a:xfrm>
          <a:prstGeom prst="roundRect">
            <a:avLst>
              <a:gd name="adj" fmla="val 2222"/>
            </a:avLst>
          </a:prstGeom>
          <a:solidFill>
            <a:srgbClr val="16204A"/>
          </a:solidFill>
          <a:ln/>
          <a:effectLst>
            <a:outerShdw sx="100000" sy="100000" kx="0" ky="0" algn="bl" rotWithShape="0" blurRad="88900" dist="25400" dir="5400000">
              <a:srgbClr val="000000">
                <a:alpha val="10000"/>
              </a:srgbClr>
            </a:outerShdw>
          </a:effectLst>
        </p:spPr>
      </p:sp>
      <p:sp>
        <p:nvSpPr>
          <p:cNvPr id="6" name="Shape 4"/>
          <p:cNvSpPr/>
          <p:nvPr/>
        </p:nvSpPr>
        <p:spPr>
          <a:xfrm>
            <a:off x="998068" y="2423160"/>
            <a:ext cx="685800" cy="685800"/>
          </a:xfrm>
          <a:prstGeom prst="ellipse">
            <a:avLst/>
          </a:prstGeom>
          <a:solidFill>
            <a:srgbClr val="263176"/>
          </a:solidFill>
          <a:ln/>
        </p:spPr>
      </p:sp>
      <p:pic>
        <p:nvPicPr>
          <p:cNvPr id="7" name="Image 0" descr="preencoded.png">    </p:cNvPr>
          <p:cNvPicPr>
            <a:picLocks noChangeAspect="1"/>
          </p:cNvPicPr>
          <p:nvPr/>
        </p:nvPicPr>
        <p:blipFill>
          <a:blip r:embed="rId1"/>
          <a:stretch>
            <a:fillRect/>
          </a:stretch>
        </p:blipFill>
        <p:spPr>
          <a:xfrm>
            <a:off x="1176376" y="2601468"/>
            <a:ext cx="329184" cy="329184"/>
          </a:xfrm>
          <a:prstGeom prst="rect">
            <a:avLst/>
          </a:prstGeom>
        </p:spPr>
      </p:pic>
      <p:sp>
        <p:nvSpPr>
          <p:cNvPr id="8" name="Text 5"/>
          <p:cNvSpPr/>
          <p:nvPr/>
        </p:nvSpPr>
        <p:spPr>
          <a:xfrm>
            <a:off x="1821028" y="2514600"/>
            <a:ext cx="374904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Prefill on entry</a:t>
            </a:r>
            <a:endParaRPr lang="en-US" sz="1500" dirty="0"/>
          </a:p>
        </p:txBody>
      </p:sp>
      <p:sp>
        <p:nvSpPr>
          <p:cNvPr id="9" name="Text 6"/>
          <p:cNvSpPr/>
          <p:nvPr/>
        </p:nvSpPr>
        <p:spPr>
          <a:xfrm>
            <a:off x="998068" y="3429000"/>
            <a:ext cx="4572000" cy="1737360"/>
          </a:xfrm>
          <a:prstGeom prst="rect">
            <a:avLst/>
          </a:prstGeom>
          <a:noFill/>
          <a:ln/>
        </p:spPr>
        <p:txBody>
          <a:bodyPr wrap="square" lIns="0" tIns="0" rIns="0" bIns="0" rtlCol="0" anchor="ctr"/>
          <a:lstStyle/>
          <a:p>
            <a:pPr indent="0" marL="0">
              <a:buNone/>
            </a:pPr>
            <a:r>
              <a:rPr lang="en-US" sz="1250" b="1" dirty="0">
                <a:solidFill>
                  <a:srgbClr val="D9A441"/>
                </a:solidFill>
                <a:latin typeface="Courier New" pitchFamily="34" charset="0"/>
                <a:ea typeface="Courier New" pitchFamily="34" charset="-122"/>
                <a:cs typeface="Courier New" pitchFamily="34" charset="-120"/>
              </a:rPr>
              <a:t>defaultValue</a:t>
            </a:r>
            <a:endParaRPr lang="en-US" sz="1250" dirty="0"/>
          </a:p>
          <a:p>
            <a:pPr indent="0" marL="0">
              <a:buNone/>
            </a:pPr>
            <a:r>
              <a:rPr lang="en-US" sz="1250" dirty="0">
                <a:solidFill>
                  <a:srgbClr val="CADCFC"/>
                </a:solidFill>
                <a:latin typeface="Calibri" pitchFamily="34" charset="0"/>
                <a:ea typeface="Calibri" pitchFamily="34" charset="-122"/>
                <a:cs typeface="Calibri" pitchFamily="34" charset="-120"/>
              </a:rPr>
              <a:t>is either a static string, or a binding key matching a variable name from the orchestrator's session state.</a:t>
            </a:r>
            <a:endParaRPr lang="en-US" sz="1250" dirty="0"/>
          </a:p>
        </p:txBody>
      </p:sp>
      <p:sp>
        <p:nvSpPr>
          <p:cNvPr id="10" name="Shape 7"/>
          <p:cNvSpPr/>
          <p:nvPr/>
        </p:nvSpPr>
        <p:spPr>
          <a:xfrm>
            <a:off x="6347308" y="2148840"/>
            <a:ext cx="5120640" cy="3291840"/>
          </a:xfrm>
          <a:prstGeom prst="roundRect">
            <a:avLst>
              <a:gd name="adj" fmla="val 2222"/>
            </a:avLst>
          </a:prstGeom>
          <a:solidFill>
            <a:srgbClr val="16204A"/>
          </a:solidFill>
          <a:ln/>
          <a:effectLst>
            <a:outerShdw sx="100000" sy="100000" kx="0" ky="0" algn="bl" rotWithShape="0" blurRad="88900" dist="25400" dir="5400000">
              <a:srgbClr val="000000">
                <a:alpha val="10000"/>
              </a:srgbClr>
            </a:outerShdw>
          </a:effectLst>
        </p:spPr>
      </p:sp>
      <p:sp>
        <p:nvSpPr>
          <p:cNvPr id="11" name="Shape 8"/>
          <p:cNvSpPr/>
          <p:nvPr/>
        </p:nvSpPr>
        <p:spPr>
          <a:xfrm>
            <a:off x="6621628" y="2423160"/>
            <a:ext cx="685800" cy="685800"/>
          </a:xfrm>
          <a:prstGeom prst="ellipse">
            <a:avLst/>
          </a:prstGeom>
          <a:solidFill>
            <a:srgbClr val="263176"/>
          </a:solidFill>
          <a:ln/>
        </p:spPr>
      </p:sp>
      <p:pic>
        <p:nvPicPr>
          <p:cNvPr id="12" name="Image 1" descr="preencoded.png">    </p:cNvPr>
          <p:cNvPicPr>
            <a:picLocks noChangeAspect="1"/>
          </p:cNvPicPr>
          <p:nvPr/>
        </p:nvPicPr>
        <p:blipFill>
          <a:blip r:embed="rId2"/>
          <a:stretch>
            <a:fillRect/>
          </a:stretch>
        </p:blipFill>
        <p:spPr>
          <a:xfrm>
            <a:off x="6799936" y="2601468"/>
            <a:ext cx="329184" cy="329184"/>
          </a:xfrm>
          <a:prstGeom prst="rect">
            <a:avLst/>
          </a:prstGeom>
        </p:spPr>
      </p:pic>
      <p:sp>
        <p:nvSpPr>
          <p:cNvPr id="13" name="Text 9"/>
          <p:cNvSpPr/>
          <p:nvPr/>
        </p:nvSpPr>
        <p:spPr>
          <a:xfrm>
            <a:off x="7444588" y="2514600"/>
            <a:ext cx="374904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Remap on submit</a:t>
            </a:r>
            <a:endParaRPr lang="en-US" sz="1500" dirty="0"/>
          </a:p>
        </p:txBody>
      </p:sp>
      <p:sp>
        <p:nvSpPr>
          <p:cNvPr id="14" name="Text 10"/>
          <p:cNvSpPr/>
          <p:nvPr/>
        </p:nvSpPr>
        <p:spPr>
          <a:xfrm>
            <a:off x="6621628" y="3429000"/>
            <a:ext cx="4572000" cy="17373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same bindings map your form's local field names back to the orchestrator's canonical variable names before you POST the submit payload.</a:t>
            </a:r>
            <a:endParaRPr lang="en-US" sz="1250" dirty="0"/>
          </a:p>
        </p:txBody>
      </p:sp>
      <p:sp>
        <p:nvSpPr>
          <p:cNvPr id="15" name="Text 1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16" name="Text 12"/>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TEMPLATE-SCREEN API</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Dropdown Relations &amp; Hidden Components</a:t>
            </a:r>
            <a:endParaRPr lang="en-US" sz="3000" dirty="0"/>
          </a:p>
        </p:txBody>
      </p:sp>
      <p:sp>
        <p:nvSpPr>
          <p:cNvPr id="4" name="Shape 2"/>
          <p:cNvSpPr/>
          <p:nvPr/>
        </p:nvSpPr>
        <p:spPr>
          <a:xfrm>
            <a:off x="548640" y="1508760"/>
            <a:ext cx="5394960" cy="4480560"/>
          </a:xfrm>
          <a:prstGeom prst="roundRect">
            <a:avLst>
              <a:gd name="adj" fmla="val 1633"/>
            </a:avLst>
          </a:prstGeom>
          <a:solidFill>
            <a:srgbClr val="F4F7FD"/>
          </a:solidFill>
          <a:ln/>
          <a:effectLst>
            <a:outerShdw sx="100000" sy="100000" kx="0" ky="0" algn="bl" rotWithShape="0" blurRad="88900" dist="25400" dir="5400000">
              <a:srgbClr val="000000">
                <a:alpha val="10000"/>
              </a:srgbClr>
            </a:outerShdw>
          </a:effectLst>
        </p:spPr>
      </p:sp>
      <p:sp>
        <p:nvSpPr>
          <p:cNvPr id="5" name="Shape 3"/>
          <p:cNvSpPr/>
          <p:nvPr/>
        </p:nvSpPr>
        <p:spPr>
          <a:xfrm>
            <a:off x="822960" y="1783080"/>
            <a:ext cx="640080" cy="640080"/>
          </a:xfrm>
          <a:prstGeom prst="ellipse">
            <a:avLst/>
          </a:prstGeom>
          <a:solidFill>
            <a:srgbClr val="CADCFC"/>
          </a:solidFill>
          <a:ln/>
        </p:spPr>
      </p:sp>
      <p:pic>
        <p:nvPicPr>
          <p:cNvPr id="6" name="Image 0" descr="preencoded.png">    </p:cNvPr>
          <p:cNvPicPr>
            <a:picLocks noChangeAspect="1"/>
          </p:cNvPicPr>
          <p:nvPr/>
        </p:nvPicPr>
        <p:blipFill>
          <a:blip r:embed="rId1"/>
          <a:stretch>
            <a:fillRect/>
          </a:stretch>
        </p:blipFill>
        <p:spPr>
          <a:xfrm>
            <a:off x="989381" y="1949501"/>
            <a:ext cx="307238" cy="307238"/>
          </a:xfrm>
          <a:prstGeom prst="rect">
            <a:avLst/>
          </a:prstGeom>
        </p:spPr>
      </p:pic>
      <p:sp>
        <p:nvSpPr>
          <p:cNvPr id="7" name="Text 4"/>
          <p:cNvSpPr/>
          <p:nvPr/>
        </p:nvSpPr>
        <p:spPr>
          <a:xfrm>
            <a:off x="1600200" y="1874520"/>
            <a:ext cx="3566160" cy="45720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Dropdown options, resolved for you</a:t>
            </a:r>
            <a:endParaRPr lang="en-US" sz="1400" dirty="0"/>
          </a:p>
        </p:txBody>
      </p:sp>
      <p:sp>
        <p:nvSpPr>
          <p:cNvPr id="8" name="Shape 5"/>
          <p:cNvSpPr/>
          <p:nvPr/>
        </p:nvSpPr>
        <p:spPr>
          <a:xfrm>
            <a:off x="822960" y="2514600"/>
            <a:ext cx="4846320" cy="1645920"/>
          </a:xfrm>
          <a:prstGeom prst="roundRect">
            <a:avLst>
              <a:gd name="adj" fmla="val 4444"/>
            </a:avLst>
          </a:prstGeom>
          <a:solidFill>
            <a:srgbClr val="16204A"/>
          </a:solidFill>
          <a:ln/>
          <a:effectLst>
            <a:outerShdw sx="100000" sy="100000" kx="0" ky="0" algn="bl" rotWithShape="0" blurRad="101600" dist="38100" dir="5400000">
              <a:srgbClr val="000000">
                <a:alpha val="18000"/>
              </a:srgbClr>
            </a:outerShdw>
          </a:effectLst>
        </p:spPr>
      </p:sp>
      <p:sp>
        <p:nvSpPr>
          <p:cNvPr id="9" name="Text 6"/>
          <p:cNvSpPr/>
          <p:nvPr/>
        </p:nvSpPr>
        <p:spPr>
          <a:xfrm>
            <a:off x="1051560" y="2697480"/>
            <a:ext cx="4389120" cy="128016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dropdownComponent.values = [</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  { displayValue: "Home",   value: "home"   },</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  { displayValue: "Office", value: "office" }</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822960" y="4297680"/>
            <a:ext cx="4846320" cy="1463040"/>
          </a:xfrm>
          <a:prstGeom prst="rect">
            <a:avLst/>
          </a:prstGeom>
          <a:noFill/>
          <a:ln/>
        </p:spPr>
        <p:txBody>
          <a:bodyPr wrap="square" lIns="0" tIns="0" rIns="0" bIns="0" rtlCol="0" anchor="ctr"/>
          <a:lstStyle/>
          <a:p>
            <a:pPr indent="0" marL="0">
              <a:buNone/>
            </a:pPr>
            <a:r>
              <a:rPr lang="en-US" sz="1200" dirty="0">
                <a:solidFill>
                  <a:srgbClr val="20264A"/>
                </a:solidFill>
                <a:latin typeface="Calibri" pitchFamily="34" charset="0"/>
                <a:ea typeface="Calibri" pitchFamily="34" charset="-122"/>
                <a:cs typeface="Calibri" pitchFamily="34" charset="-120"/>
              </a:rPr>
              <a:t>No relation ID to chase — the CMS resolves the linked options group server-side and hands you a ready-to-render list.</a:t>
            </a:r>
            <a:endParaRPr lang="en-US" sz="1200" dirty="0"/>
          </a:p>
        </p:txBody>
      </p:sp>
      <p:sp>
        <p:nvSpPr>
          <p:cNvPr id="11" name="Shape 8"/>
          <p:cNvSpPr/>
          <p:nvPr/>
        </p:nvSpPr>
        <p:spPr>
          <a:xfrm>
            <a:off x="6400800" y="1508760"/>
            <a:ext cx="5242255" cy="4480560"/>
          </a:xfrm>
          <a:prstGeom prst="roundRect">
            <a:avLst>
              <a:gd name="adj" fmla="val 1633"/>
            </a:avLst>
          </a:prstGeom>
          <a:solidFill>
            <a:srgbClr val="F4F7FD"/>
          </a:solidFill>
          <a:ln/>
          <a:effectLst>
            <a:outerShdw sx="100000" sy="100000" kx="0" ky="0" algn="bl" rotWithShape="0" blurRad="88900" dist="25400" dir="5400000">
              <a:srgbClr val="000000">
                <a:alpha val="10000"/>
              </a:srgbClr>
            </a:outerShdw>
          </a:effectLst>
        </p:spPr>
      </p:sp>
      <p:sp>
        <p:nvSpPr>
          <p:cNvPr id="12" name="Shape 9"/>
          <p:cNvSpPr/>
          <p:nvPr/>
        </p:nvSpPr>
        <p:spPr>
          <a:xfrm>
            <a:off x="6675120" y="1783080"/>
            <a:ext cx="640080" cy="640080"/>
          </a:xfrm>
          <a:prstGeom prst="ellipse">
            <a:avLst/>
          </a:prstGeom>
          <a:solidFill>
            <a:srgbClr val="CADCFC"/>
          </a:solidFill>
          <a:ln/>
        </p:spPr>
      </p:sp>
      <p:pic>
        <p:nvPicPr>
          <p:cNvPr id="13" name="Image 1" descr="preencoded.png">    </p:cNvPr>
          <p:cNvPicPr>
            <a:picLocks noChangeAspect="1"/>
          </p:cNvPicPr>
          <p:nvPr/>
        </p:nvPicPr>
        <p:blipFill>
          <a:blip r:embed="rId2"/>
          <a:stretch>
            <a:fillRect/>
          </a:stretch>
        </p:blipFill>
        <p:spPr>
          <a:xfrm>
            <a:off x="6841541" y="1949501"/>
            <a:ext cx="307238" cy="307238"/>
          </a:xfrm>
          <a:prstGeom prst="rect">
            <a:avLst/>
          </a:prstGeom>
        </p:spPr>
      </p:pic>
      <p:sp>
        <p:nvSpPr>
          <p:cNvPr id="14" name="Text 10"/>
          <p:cNvSpPr/>
          <p:nvPr/>
        </p:nvSpPr>
        <p:spPr>
          <a:xfrm>
            <a:off x="7452360" y="1874520"/>
            <a:ext cx="3962095" cy="45720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You'll never see unfinished screens</a:t>
            </a:r>
            <a:endParaRPr lang="en-US" sz="1400" dirty="0"/>
          </a:p>
        </p:txBody>
      </p:sp>
      <p:sp>
        <p:nvSpPr>
          <p:cNvPr id="15" name="Shape 11"/>
          <p:cNvSpPr/>
          <p:nvPr/>
        </p:nvSpPr>
        <p:spPr>
          <a:xfrm>
            <a:off x="6675120" y="2514600"/>
            <a:ext cx="4693615" cy="1097280"/>
          </a:xfrm>
          <a:prstGeom prst="roundRect">
            <a:avLst>
              <a:gd name="adj" fmla="val 6667"/>
            </a:avLst>
          </a:prstGeom>
          <a:solidFill>
            <a:srgbClr val="16204A"/>
          </a:solidFill>
          <a:ln/>
          <a:effectLst>
            <a:outerShdw sx="100000" sy="100000" kx="0" ky="0" algn="bl" rotWithShape="0" blurRad="101600" dist="38100" dir="5400000">
              <a:srgbClr val="000000">
                <a:alpha val="18000"/>
              </a:srgbClr>
            </a:outerShdw>
          </a:effectLst>
        </p:spPr>
      </p:sp>
      <p:sp>
        <p:nvSpPr>
          <p:cNvPr id="16" name="Text 12"/>
          <p:cNvSpPr/>
          <p:nvPr/>
        </p:nvSpPr>
        <p:spPr>
          <a:xfrm>
            <a:off x="6903720" y="2697480"/>
            <a:ext cx="4236415" cy="7315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 server-side, before you ever see it</a:t>
            </a:r>
            <a:endParaRPr lang="en-US" sz="1150" dirty="0"/>
          </a:p>
          <a:p>
            <a:pPr indent="0" marL="0">
              <a:lnSpc>
                <a:spcPct val="115000"/>
              </a:lnSpc>
              <a:buNone/>
            </a:pPr>
            <a:r>
              <a:rPr lang="en-US" sz="1150" dirty="0">
                <a:solidFill>
                  <a:srgbClr val="CADCFC"/>
                </a:solidFill>
                <a:latin typeface="Courier New" pitchFamily="34" charset="0"/>
                <a:ea typeface="Courier New" pitchFamily="34" charset="-122"/>
                <a:cs typeface="Courier New" pitchFamily="34" charset="-120"/>
              </a:rPr>
              <a:t>if (component.hide === true) continue;</a:t>
            </a:r>
            <a:endParaRPr lang="en-US" sz="1150" dirty="0"/>
          </a:p>
        </p:txBody>
      </p:sp>
      <p:sp>
        <p:nvSpPr>
          <p:cNvPr id="17" name="Text 13"/>
          <p:cNvSpPr/>
          <p:nvPr/>
        </p:nvSpPr>
        <p:spPr>
          <a:xfrm>
            <a:off x="6675120" y="3840480"/>
            <a:ext cx="4693615" cy="1920240"/>
          </a:xfrm>
          <a:prstGeom prst="rect">
            <a:avLst/>
          </a:prstGeom>
          <a:noFill/>
          <a:ln/>
        </p:spPr>
        <p:txBody>
          <a:bodyPr wrap="square" lIns="0" tIns="0" rIns="0" bIns="0" rtlCol="0" anchor="ctr"/>
          <a:lstStyle/>
          <a:p>
            <a:pPr indent="0" marL="0">
              <a:buNone/>
            </a:pPr>
            <a:r>
              <a:rPr lang="en-US" sz="1200" dirty="0">
                <a:solidFill>
                  <a:srgbClr val="20264A"/>
                </a:solidFill>
                <a:latin typeface="Calibri" pitchFamily="34" charset="0"/>
                <a:ea typeface="Calibri" pitchFamily="34" charset="-122"/>
                <a:cs typeface="Calibri" pitchFamily="34" charset="-120"/>
              </a:rPr>
              <a:t>Every component has a hidden flag, default true. Content editors can stage a screen in the CMS, and you'll only ever receive components explicitly marked visible.</a:t>
            </a:r>
            <a:endParaRPr lang="en-US" sz="1200" dirty="0"/>
          </a:p>
        </p:txBody>
      </p:sp>
      <p:sp>
        <p:nvSpPr>
          <p:cNvPr id="18" name="Text 14"/>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19" name="Text 15"/>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REFERENCE</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Integration Contract Cheat-Sheet</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1737360"/>
        </p:xfrm>
        <a:graphic>
          <a:graphicData uri="http://schemas.openxmlformats.org/drawingml/2006/table">
            <a:tbl>
              <a:tblPr/>
              <a:tblGrid>
                <a:gridCol w="4206240"/>
                <a:gridCol w="1463040"/>
                <a:gridCol w="5425135"/>
              </a:tblGrid>
              <a:tr h="548640">
                <a:tc>
                  <a:txBody>
                    <a:bodyPr/>
                    <a:lstStyle/>
                    <a:p>
                      <a:pPr indent="0" marL="0">
                        <a:buNone/>
                      </a:pPr>
                      <a:r>
                        <a:rPr lang="en-US" sz="1300" b="1" dirty="0">
                          <a:solidFill>
                            <a:srgbClr val="FFFFFF"/>
                          </a:solidFill>
                          <a:latin typeface="Courier New" pitchFamily="34" charset="0"/>
                          <a:ea typeface="Courier New" pitchFamily="34" charset="-122"/>
                          <a:cs typeface="Courier New" pitchFamily="34" charset="-120"/>
                        </a:rPr>
                        <a:t>Endpoint</a:t>
                      </a:r>
                      <a:endParaRPr lang="en-US" sz="1300" dirty="0">
                        <a:latin typeface="Courier New" charset="0"/>
                        <a:ea typeface="Courier New" charset="0"/>
                        <a:cs typeface="Courier New" charset="0"/>
                      </a:endParaRPr>
                    </a:p>
                  </a:txBody>
                  <a:tcPr marL="91440" marR="91440" marT="45720" marB="45720" anchor="ctr">
                    <a:lnL w="9525" cap="flat" cmpd="sng" algn="ctr">
                      <a:solidFill>
                        <a:srgbClr val="E1E7F5"/>
                      </a:solidFill>
                      <a:prstDash val="solid"/>
                      <a:round/>
                      <a:headEnd type="none" w="med" len="med"/>
                      <a:tailEnd type="none" w="med" len="med"/>
                    </a:lnL>
                    <a:lnR w="9525" cap="flat" cmpd="sng" algn="ctr">
                      <a:solidFill>
                        <a:srgbClr val="E1E7F5"/>
                      </a:solidFill>
                      <a:prstDash val="solid"/>
                      <a:round/>
                      <a:headEnd type="none" w="med" len="med"/>
                      <a:tailEnd type="none" w="med" len="med"/>
                    </a:lnR>
                    <a:lnT w="9525" cap="flat" cmpd="sng" algn="ctr">
                      <a:solidFill>
                        <a:srgbClr val="E1E7F5"/>
                      </a:solidFill>
                      <a:prstDash val="solid"/>
                      <a:round/>
                      <a:headEnd type="none" w="med" len="med"/>
                      <a:tailEnd type="none" w="med" len="med"/>
                    </a:lnT>
                    <a:lnB w="9525" cap="flat" cmpd="sng" algn="ctr">
                      <a:solidFill>
                        <a:srgbClr val="E1E7F5"/>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ourier New" pitchFamily="34" charset="0"/>
                          <a:ea typeface="Courier New" pitchFamily="34" charset="-122"/>
                          <a:cs typeface="Courier New" pitchFamily="34" charset="-120"/>
                        </a:rPr>
                        <a:t>Method</a:t>
                      </a:r>
                      <a:endParaRPr lang="en-US" sz="1300" dirty="0">
                        <a:latin typeface="Courier New" charset="0"/>
                        <a:ea typeface="Courier New" charset="0"/>
                        <a:cs typeface="Courier New" charset="0"/>
                      </a:endParaRPr>
                    </a:p>
                  </a:txBody>
                  <a:tcPr marL="91440" marR="91440" marT="45720" marB="45720" anchor="ctr">
                    <a:lnL w="9525" cap="flat" cmpd="sng" algn="ctr">
                      <a:solidFill>
                        <a:srgbClr val="E1E7F5"/>
                      </a:solidFill>
                      <a:prstDash val="solid"/>
                      <a:round/>
                      <a:headEnd type="none" w="med" len="med"/>
                      <a:tailEnd type="none" w="med" len="med"/>
                    </a:lnL>
                    <a:lnR w="9525" cap="flat" cmpd="sng" algn="ctr">
                      <a:solidFill>
                        <a:srgbClr val="E1E7F5"/>
                      </a:solidFill>
                      <a:prstDash val="solid"/>
                      <a:round/>
                      <a:headEnd type="none" w="med" len="med"/>
                      <a:tailEnd type="none" w="med" len="med"/>
                    </a:lnR>
                    <a:lnT w="9525" cap="flat" cmpd="sng" algn="ctr">
                      <a:solidFill>
                        <a:srgbClr val="E1E7F5"/>
                      </a:solidFill>
                      <a:prstDash val="solid"/>
                      <a:round/>
                      <a:headEnd type="none" w="med" len="med"/>
                      <a:tailEnd type="none" w="med" len="med"/>
                    </a:lnT>
                    <a:lnB w="9525" cap="flat" cmpd="sng" algn="ctr">
                      <a:solidFill>
                        <a:srgbClr val="E1E7F5"/>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ourier New" pitchFamily="34" charset="0"/>
                          <a:ea typeface="Courier New" pitchFamily="34" charset="-122"/>
                          <a:cs typeface="Courier New" pitchFamily="34" charset="-120"/>
                        </a:rPr>
                        <a:t>Returns</a:t>
                      </a:r>
                      <a:endParaRPr lang="en-US" sz="1300" dirty="0">
                        <a:latin typeface="Courier New" charset="0"/>
                        <a:ea typeface="Courier New" charset="0"/>
                        <a:cs typeface="Courier New" charset="0"/>
                      </a:endParaRPr>
                    </a:p>
                  </a:txBody>
                  <a:tcPr marL="91440" marR="91440" marT="45720" marB="45720" anchor="ctr">
                    <a:lnL w="9525" cap="flat" cmpd="sng" algn="ctr">
                      <a:solidFill>
                        <a:srgbClr val="E1E7F5"/>
                      </a:solidFill>
                      <a:prstDash val="solid"/>
                      <a:round/>
                      <a:headEnd type="none" w="med" len="med"/>
                      <a:tailEnd type="none" w="med" len="med"/>
                    </a:lnL>
                    <a:lnR w="9525" cap="flat" cmpd="sng" algn="ctr">
                      <a:solidFill>
                        <a:srgbClr val="E1E7F5"/>
                      </a:solidFill>
                      <a:prstDash val="solid"/>
                      <a:round/>
                      <a:headEnd type="none" w="med" len="med"/>
                      <a:tailEnd type="none" w="med" len="med"/>
                    </a:lnR>
                    <a:lnT w="9525" cap="flat" cmpd="sng" algn="ctr">
                      <a:solidFill>
                        <a:srgbClr val="E1E7F5"/>
                      </a:solidFill>
                      <a:prstDash val="solid"/>
                      <a:round/>
                      <a:headEnd type="none" w="med" len="med"/>
                      <a:tailEnd type="none" w="med" len="med"/>
                    </a:lnT>
                    <a:lnB w="9525" cap="flat" cmpd="sng" algn="ctr">
                      <a:solidFill>
                        <a:srgbClr val="E1E7F5"/>
                      </a:solidFill>
                      <a:prstDash val="solid"/>
                      <a:round/>
                      <a:headEnd type="none" w="med" len="med"/>
                      <a:tailEnd type="none" w="med" len="med"/>
                    </a:lnB>
                    <a:solidFill>
                      <a:srgbClr val="1E2761"/>
                    </a:solidFill>
                  </a:tcPr>
                </a:tc>
              </a:tr>
              <a:tr h="548640">
                <a:tc>
                  <a:txBody>
                    <a:bodyPr/>
                    <a:lstStyle/>
                    <a:p>
                      <a:pPr indent="0" marL="0">
                        <a:buNone/>
                      </a:pPr>
                      <a:r>
                        <a:rPr lang="en-US" sz="1300" dirty="0">
                          <a:solidFill>
                            <a:srgbClr val="20264A"/>
                          </a:solidFill>
                          <a:latin typeface="Courier New" pitchFamily="34" charset="0"/>
                          <a:ea typeface="Courier New" pitchFamily="34" charset="-122"/>
                          <a:cs typeface="Courier New" pitchFamily="34" charset="-120"/>
                        </a:rPr>
                        <a:t>/navigators/:journeyCode</a:t>
                      </a:r>
                      <a:endParaRPr lang="en-US" sz="1300" dirty="0">
                        <a:latin typeface="Courier New" charset="0"/>
                        <a:ea typeface="Courier New" charset="0"/>
                        <a:cs typeface="Courier New" charset="0"/>
                      </a:endParaRPr>
                    </a:p>
                  </a:txBody>
                  <a:tcPr marL="91440" marR="91440" marT="45720" marB="45720" anchor="ctr">
                    <a:lnL w="9525" cap="flat" cmpd="sng" algn="ctr">
                      <a:solidFill>
                        <a:srgbClr val="E1E7F5"/>
                      </a:solidFill>
                      <a:prstDash val="solid"/>
                      <a:round/>
                      <a:headEnd type="none" w="med" len="med"/>
                      <a:tailEnd type="none" w="med" len="med"/>
                    </a:lnL>
                    <a:lnR w="9525" cap="flat" cmpd="sng" algn="ctr">
                      <a:solidFill>
                        <a:srgbClr val="E1E7F5"/>
                      </a:solidFill>
                      <a:prstDash val="solid"/>
                      <a:round/>
                      <a:headEnd type="none" w="med" len="med"/>
                      <a:tailEnd type="none" w="med" len="med"/>
                    </a:lnR>
                    <a:lnT w="9525" cap="flat" cmpd="sng" algn="ctr">
                      <a:solidFill>
                        <a:srgbClr val="E1E7F5"/>
                      </a:solidFill>
                      <a:prstDash val="solid"/>
                      <a:round/>
                      <a:headEnd type="none" w="med" len="med"/>
                      <a:tailEnd type="none" w="med" len="med"/>
                    </a:lnT>
                    <a:lnB w="9525" cap="flat" cmpd="sng" algn="ctr">
                      <a:solidFill>
                        <a:srgbClr val="E1E7F5"/>
                      </a:solidFill>
                      <a:prstDash val="solid"/>
                      <a:round/>
                      <a:headEnd type="none" w="med" len="med"/>
                      <a:tailEnd type="none" w="med" len="med"/>
                    </a:lnB>
                  </a:tcPr>
                </a:tc>
                <a:tc>
                  <a:txBody>
                    <a:bodyPr/>
                    <a:lstStyle/>
                    <a:p>
                      <a:pPr indent="0" marL="0">
                        <a:buNone/>
                      </a:pPr>
                      <a:r>
                        <a:rPr lang="en-US" sz="1300" dirty="0">
                          <a:solidFill>
                            <a:srgbClr val="20264A"/>
                          </a:solidFill>
                          <a:latin typeface="Courier New" pitchFamily="34" charset="0"/>
                          <a:ea typeface="Courier New" pitchFamily="34" charset="-122"/>
                          <a:cs typeface="Courier New" pitchFamily="34" charset="-120"/>
                        </a:rPr>
                        <a:t>GET</a:t>
                      </a:r>
                      <a:endParaRPr lang="en-US" sz="1300" dirty="0">
                        <a:latin typeface="Courier New" charset="0"/>
                        <a:ea typeface="Courier New" charset="0"/>
                        <a:cs typeface="Courier New" charset="0"/>
                      </a:endParaRPr>
                    </a:p>
                  </a:txBody>
                  <a:tcPr marL="91440" marR="91440" marT="45720" marB="45720" anchor="ctr">
                    <a:lnL w="9525" cap="flat" cmpd="sng" algn="ctr">
                      <a:solidFill>
                        <a:srgbClr val="E1E7F5"/>
                      </a:solidFill>
                      <a:prstDash val="solid"/>
                      <a:round/>
                      <a:headEnd type="none" w="med" len="med"/>
                      <a:tailEnd type="none" w="med" len="med"/>
                    </a:lnL>
                    <a:lnR w="9525" cap="flat" cmpd="sng" algn="ctr">
                      <a:solidFill>
                        <a:srgbClr val="E1E7F5"/>
                      </a:solidFill>
                      <a:prstDash val="solid"/>
                      <a:round/>
                      <a:headEnd type="none" w="med" len="med"/>
                      <a:tailEnd type="none" w="med" len="med"/>
                    </a:lnR>
                    <a:lnT w="9525" cap="flat" cmpd="sng" algn="ctr">
                      <a:solidFill>
                        <a:srgbClr val="E1E7F5"/>
                      </a:solidFill>
                      <a:prstDash val="solid"/>
                      <a:round/>
                      <a:headEnd type="none" w="med" len="med"/>
                      <a:tailEnd type="none" w="med" len="med"/>
                    </a:lnT>
                    <a:lnB w="9525" cap="flat" cmpd="sng" algn="ctr">
                      <a:solidFill>
                        <a:srgbClr val="E1E7F5"/>
                      </a:solidFill>
                      <a:prstDash val="solid"/>
                      <a:round/>
                      <a:headEnd type="none" w="med" len="med"/>
                      <a:tailEnd type="none" w="med" len="med"/>
                    </a:lnB>
                  </a:tcPr>
                </a:tc>
                <a:tc>
                  <a:txBody>
                    <a:bodyPr/>
                    <a:lstStyle/>
                    <a:p>
                      <a:pPr indent="0" marL="0">
                        <a:buNone/>
                      </a:pPr>
                      <a:r>
                        <a:rPr lang="en-US" sz="1300" dirty="0">
                          <a:solidFill>
                            <a:srgbClr val="20264A"/>
                          </a:solidFill>
                          <a:latin typeface="Courier New" pitchFamily="34" charset="0"/>
                          <a:ea typeface="Courier New" pitchFamily="34" charset="-122"/>
                          <a:cs typeface="Courier New" pitchFamily="34" charset="-120"/>
                        </a:rPr>
                        <a:t>Ordered [{ screenCode, screenName, sequence }]</a:t>
                      </a:r>
                      <a:endParaRPr lang="en-US" sz="1300" dirty="0">
                        <a:latin typeface="Courier New" charset="0"/>
                        <a:ea typeface="Courier New" charset="0"/>
                        <a:cs typeface="Courier New" charset="0"/>
                      </a:endParaRPr>
                    </a:p>
                  </a:txBody>
                  <a:tcPr marL="91440" marR="91440" marT="45720" marB="45720" anchor="ctr">
                    <a:lnL w="9525" cap="flat" cmpd="sng" algn="ctr">
                      <a:solidFill>
                        <a:srgbClr val="E1E7F5"/>
                      </a:solidFill>
                      <a:prstDash val="solid"/>
                      <a:round/>
                      <a:headEnd type="none" w="med" len="med"/>
                      <a:tailEnd type="none" w="med" len="med"/>
                    </a:lnL>
                    <a:lnR w="9525" cap="flat" cmpd="sng" algn="ctr">
                      <a:solidFill>
                        <a:srgbClr val="E1E7F5"/>
                      </a:solidFill>
                      <a:prstDash val="solid"/>
                      <a:round/>
                      <a:headEnd type="none" w="med" len="med"/>
                      <a:tailEnd type="none" w="med" len="med"/>
                    </a:lnR>
                    <a:lnT w="9525" cap="flat" cmpd="sng" algn="ctr">
                      <a:solidFill>
                        <a:srgbClr val="E1E7F5"/>
                      </a:solidFill>
                      <a:prstDash val="solid"/>
                      <a:round/>
                      <a:headEnd type="none" w="med" len="med"/>
                      <a:tailEnd type="none" w="med" len="med"/>
                    </a:lnT>
                    <a:lnB w="9525" cap="flat" cmpd="sng" algn="ctr">
                      <a:solidFill>
                        <a:srgbClr val="E1E7F5"/>
                      </a:solidFill>
                      <a:prstDash val="solid"/>
                      <a:round/>
                      <a:headEnd type="none" w="med" len="med"/>
                      <a:tailEnd type="none" w="med" len="med"/>
                    </a:lnB>
                  </a:tcPr>
                </a:tc>
              </a:tr>
              <a:tr h="548640">
                <a:tc>
                  <a:txBody>
                    <a:bodyPr/>
                    <a:lstStyle/>
                    <a:p>
                      <a:pPr indent="0" marL="0">
                        <a:buNone/>
                      </a:pPr>
                      <a:r>
                        <a:rPr lang="en-US" sz="1300" dirty="0">
                          <a:solidFill>
                            <a:srgbClr val="20264A"/>
                          </a:solidFill>
                          <a:latin typeface="Courier New" pitchFamily="34" charset="0"/>
                          <a:ea typeface="Courier New" pitchFamily="34" charset="-122"/>
                          <a:cs typeface="Courier New" pitchFamily="34" charset="-120"/>
                        </a:rPr>
                        <a:t>/template-screens/:template_id</a:t>
                      </a:r>
                      <a:endParaRPr lang="en-US" sz="1300" dirty="0">
                        <a:latin typeface="Courier New" charset="0"/>
                        <a:ea typeface="Courier New" charset="0"/>
                        <a:cs typeface="Courier New" charset="0"/>
                      </a:endParaRPr>
                    </a:p>
                  </a:txBody>
                  <a:tcPr marL="91440" marR="91440" marT="45720" marB="45720" anchor="ctr">
                    <a:lnL w="9525" cap="flat" cmpd="sng" algn="ctr">
                      <a:solidFill>
                        <a:srgbClr val="E1E7F5"/>
                      </a:solidFill>
                      <a:prstDash val="solid"/>
                      <a:round/>
                      <a:headEnd type="none" w="med" len="med"/>
                      <a:tailEnd type="none" w="med" len="med"/>
                    </a:lnL>
                    <a:lnR w="9525" cap="flat" cmpd="sng" algn="ctr">
                      <a:solidFill>
                        <a:srgbClr val="E1E7F5"/>
                      </a:solidFill>
                      <a:prstDash val="solid"/>
                      <a:round/>
                      <a:headEnd type="none" w="med" len="med"/>
                      <a:tailEnd type="none" w="med" len="med"/>
                    </a:lnR>
                    <a:lnT w="9525" cap="flat" cmpd="sng" algn="ctr">
                      <a:solidFill>
                        <a:srgbClr val="E1E7F5"/>
                      </a:solidFill>
                      <a:prstDash val="solid"/>
                      <a:round/>
                      <a:headEnd type="none" w="med" len="med"/>
                      <a:tailEnd type="none" w="med" len="med"/>
                    </a:lnT>
                    <a:lnB w="9525" cap="flat" cmpd="sng" algn="ctr">
                      <a:solidFill>
                        <a:srgbClr val="E1E7F5"/>
                      </a:solidFill>
                      <a:prstDash val="solid"/>
                      <a:round/>
                      <a:headEnd type="none" w="med" len="med"/>
                      <a:tailEnd type="none" w="med" len="med"/>
                    </a:lnB>
                  </a:tcPr>
                </a:tc>
                <a:tc>
                  <a:txBody>
                    <a:bodyPr/>
                    <a:lstStyle/>
                    <a:p>
                      <a:pPr indent="0" marL="0">
                        <a:buNone/>
                      </a:pPr>
                      <a:r>
                        <a:rPr lang="en-US" sz="1300" dirty="0">
                          <a:solidFill>
                            <a:srgbClr val="20264A"/>
                          </a:solidFill>
                          <a:latin typeface="Courier New" pitchFamily="34" charset="0"/>
                          <a:ea typeface="Courier New" pitchFamily="34" charset="-122"/>
                          <a:cs typeface="Courier New" pitchFamily="34" charset="-120"/>
                        </a:rPr>
                        <a:t>GET</a:t>
                      </a:r>
                      <a:endParaRPr lang="en-US" sz="1300" dirty="0">
                        <a:latin typeface="Courier New" charset="0"/>
                        <a:ea typeface="Courier New" charset="0"/>
                        <a:cs typeface="Courier New" charset="0"/>
                      </a:endParaRPr>
                    </a:p>
                  </a:txBody>
                  <a:tcPr marL="91440" marR="91440" marT="45720" marB="45720" anchor="ctr">
                    <a:lnL w="9525" cap="flat" cmpd="sng" algn="ctr">
                      <a:solidFill>
                        <a:srgbClr val="E1E7F5"/>
                      </a:solidFill>
                      <a:prstDash val="solid"/>
                      <a:round/>
                      <a:headEnd type="none" w="med" len="med"/>
                      <a:tailEnd type="none" w="med" len="med"/>
                    </a:lnL>
                    <a:lnR w="9525" cap="flat" cmpd="sng" algn="ctr">
                      <a:solidFill>
                        <a:srgbClr val="E1E7F5"/>
                      </a:solidFill>
                      <a:prstDash val="solid"/>
                      <a:round/>
                      <a:headEnd type="none" w="med" len="med"/>
                      <a:tailEnd type="none" w="med" len="med"/>
                    </a:lnR>
                    <a:lnT w="9525" cap="flat" cmpd="sng" algn="ctr">
                      <a:solidFill>
                        <a:srgbClr val="E1E7F5"/>
                      </a:solidFill>
                      <a:prstDash val="solid"/>
                      <a:round/>
                      <a:headEnd type="none" w="med" len="med"/>
                      <a:tailEnd type="none" w="med" len="med"/>
                    </a:lnT>
                    <a:lnB w="9525" cap="flat" cmpd="sng" algn="ctr">
                      <a:solidFill>
                        <a:srgbClr val="E1E7F5"/>
                      </a:solidFill>
                      <a:prstDash val="solid"/>
                      <a:round/>
                      <a:headEnd type="none" w="med" len="med"/>
                      <a:tailEnd type="none" w="med" len="med"/>
                    </a:lnB>
                  </a:tcPr>
                </a:tc>
                <a:tc>
                  <a:txBody>
                    <a:bodyPr/>
                    <a:lstStyle/>
                    <a:p>
                      <a:pPr indent="0" marL="0">
                        <a:buNone/>
                      </a:pPr>
                      <a:r>
                        <a:rPr lang="en-US" sz="1300" dirty="0">
                          <a:solidFill>
                            <a:srgbClr val="20264A"/>
                          </a:solidFill>
                          <a:latin typeface="Courier New" pitchFamily="34" charset="0"/>
                          <a:ea typeface="Courier New" pitchFamily="34" charset="-122"/>
                          <a:cs typeface="Courier New" pitchFamily="34" charset="-120"/>
                        </a:rPr>
                        <a:t>{ [componentId]: { ...fields, defaultValue } }</a:t>
                      </a:r>
                      <a:endParaRPr lang="en-US" sz="1300" dirty="0">
                        <a:latin typeface="Courier New" charset="0"/>
                        <a:ea typeface="Courier New" charset="0"/>
                        <a:cs typeface="Courier New" charset="0"/>
                      </a:endParaRPr>
                    </a:p>
                  </a:txBody>
                  <a:tcPr marL="91440" marR="91440" marT="45720" marB="45720" anchor="ctr">
                    <a:lnL w="9525" cap="flat" cmpd="sng" algn="ctr">
                      <a:solidFill>
                        <a:srgbClr val="E1E7F5"/>
                      </a:solidFill>
                      <a:prstDash val="solid"/>
                      <a:round/>
                      <a:headEnd type="none" w="med" len="med"/>
                      <a:tailEnd type="none" w="med" len="med"/>
                    </a:lnL>
                    <a:lnR w="9525" cap="flat" cmpd="sng" algn="ctr">
                      <a:solidFill>
                        <a:srgbClr val="E1E7F5"/>
                      </a:solidFill>
                      <a:prstDash val="solid"/>
                      <a:round/>
                      <a:headEnd type="none" w="med" len="med"/>
                      <a:tailEnd type="none" w="med" len="med"/>
                    </a:lnR>
                    <a:lnT w="9525" cap="flat" cmpd="sng" algn="ctr">
                      <a:solidFill>
                        <a:srgbClr val="E1E7F5"/>
                      </a:solidFill>
                      <a:prstDash val="solid"/>
                      <a:round/>
                      <a:headEnd type="none" w="med" len="med"/>
                      <a:tailEnd type="none" w="med" len="med"/>
                    </a:lnT>
                    <a:lnB w="9525" cap="flat" cmpd="sng" algn="ctr">
                      <a:solidFill>
                        <a:srgbClr val="E1E7F5"/>
                      </a:solidFill>
                      <a:prstDash val="solid"/>
                      <a:round/>
                      <a:headEnd type="none" w="med" len="med"/>
                      <a:tailEnd type="none" w="med" len="med"/>
                    </a:lnB>
                  </a:tcPr>
                </a:tc>
              </a:tr>
            </a:tbl>
          </a:graphicData>
        </a:graphic>
      </p:graphicFrame>
      <p:sp>
        <p:nvSpPr>
          <p:cNvPr id="5" name="Shape 2"/>
          <p:cNvSpPr/>
          <p:nvPr/>
        </p:nvSpPr>
        <p:spPr>
          <a:xfrm>
            <a:off x="548640" y="3703320"/>
            <a:ext cx="11094415" cy="2286000"/>
          </a:xfrm>
          <a:prstGeom prst="roundRect">
            <a:avLst>
              <a:gd name="adj" fmla="val 3200"/>
            </a:avLst>
          </a:prstGeom>
          <a:solidFill>
            <a:srgbClr val="F4F7FD"/>
          </a:solidFill>
          <a:ln/>
          <a:effectLst>
            <a:outerShdw sx="100000" sy="100000" kx="0" ky="0" algn="bl" rotWithShape="0" blurRad="88900" dist="25400" dir="5400000">
              <a:srgbClr val="000000">
                <a:alpha val="10000"/>
              </a:srgbClr>
            </a:outerShdw>
          </a:effectLst>
        </p:spPr>
      </p:sp>
      <p:sp>
        <p:nvSpPr>
          <p:cNvPr id="6" name="Text 3"/>
          <p:cNvSpPr/>
          <p:nvPr/>
        </p:nvSpPr>
        <p:spPr>
          <a:xfrm>
            <a:off x="822960" y="3886200"/>
            <a:ext cx="10545775" cy="3657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Quick rules of thumb</a:t>
            </a:r>
            <a:endParaRPr lang="en-US" sz="1400" dirty="0"/>
          </a:p>
        </p:txBody>
      </p:sp>
      <p:pic>
        <p:nvPicPr>
          <p:cNvPr id="7" name="Image 0" descr="preencoded.png">    </p:cNvPr>
          <p:cNvPicPr>
            <a:picLocks noChangeAspect="1"/>
          </p:cNvPicPr>
          <p:nvPr/>
        </p:nvPicPr>
        <p:blipFill>
          <a:blip r:embed="rId1"/>
          <a:stretch>
            <a:fillRect/>
          </a:stretch>
        </p:blipFill>
        <p:spPr>
          <a:xfrm>
            <a:off x="822960" y="4389120"/>
            <a:ext cx="219456" cy="219456"/>
          </a:xfrm>
          <a:prstGeom prst="rect">
            <a:avLst/>
          </a:prstGeom>
        </p:spPr>
      </p:pic>
      <p:sp>
        <p:nvSpPr>
          <p:cNvPr id="8" name="Text 4"/>
          <p:cNvSpPr/>
          <p:nvPr/>
        </p:nvSpPr>
        <p:spPr>
          <a:xfrm>
            <a:off x="1143000" y="4352544"/>
            <a:ext cx="10225735" cy="36576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Fetch navigator once per journey — never re-fetch it mid-flow.</a:t>
            </a:r>
            <a:endParaRPr lang="en-US" sz="1250" dirty="0"/>
          </a:p>
        </p:txBody>
      </p:sp>
      <p:pic>
        <p:nvPicPr>
          <p:cNvPr id="9" name="Image 1" descr="preencoded.png">    </p:cNvPr>
          <p:cNvPicPr>
            <a:picLocks noChangeAspect="1"/>
          </p:cNvPicPr>
          <p:nvPr/>
        </p:nvPicPr>
        <p:blipFill>
          <a:blip r:embed="rId2"/>
          <a:stretch>
            <a:fillRect/>
          </a:stretch>
        </p:blipFill>
        <p:spPr>
          <a:xfrm>
            <a:off x="822960" y="4773168"/>
            <a:ext cx="219456" cy="219456"/>
          </a:xfrm>
          <a:prstGeom prst="rect">
            <a:avLst/>
          </a:prstGeom>
        </p:spPr>
      </p:pic>
      <p:sp>
        <p:nvSpPr>
          <p:cNvPr id="10" name="Text 5"/>
          <p:cNvSpPr/>
          <p:nvPr/>
        </p:nvSpPr>
        <p:spPr>
          <a:xfrm>
            <a:off x="1143000" y="4736592"/>
            <a:ext cx="10225735" cy="36576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Fetch template-screens fresh on every screen transition.</a:t>
            </a:r>
            <a:endParaRPr lang="en-US" sz="1250" dirty="0"/>
          </a:p>
        </p:txBody>
      </p:sp>
      <p:pic>
        <p:nvPicPr>
          <p:cNvPr id="11" name="Image 2" descr="preencoded.png">    </p:cNvPr>
          <p:cNvPicPr>
            <a:picLocks noChangeAspect="1"/>
          </p:cNvPicPr>
          <p:nvPr/>
        </p:nvPicPr>
        <p:blipFill>
          <a:blip r:embed="rId3"/>
          <a:stretch>
            <a:fillRect/>
          </a:stretch>
        </p:blipFill>
        <p:spPr>
          <a:xfrm>
            <a:off x="822960" y="5157216"/>
            <a:ext cx="219456" cy="219456"/>
          </a:xfrm>
          <a:prstGeom prst="rect">
            <a:avLst/>
          </a:prstGeom>
        </p:spPr>
      </p:pic>
      <p:sp>
        <p:nvSpPr>
          <p:cNvPr id="12" name="Text 6"/>
          <p:cNvSpPr/>
          <p:nvPr/>
        </p:nvSpPr>
        <p:spPr>
          <a:xfrm>
            <a:off x="1143000" y="5120640"/>
            <a:ext cx="10225735" cy="36576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Look up fields by componentId, not by array index.</a:t>
            </a:r>
            <a:endParaRPr lang="en-US" sz="1250" dirty="0"/>
          </a:p>
        </p:txBody>
      </p:sp>
      <p:pic>
        <p:nvPicPr>
          <p:cNvPr id="13" name="Image 3" descr="preencoded.png">    </p:cNvPr>
          <p:cNvPicPr>
            <a:picLocks noChangeAspect="1"/>
          </p:cNvPicPr>
          <p:nvPr/>
        </p:nvPicPr>
        <p:blipFill>
          <a:blip r:embed="rId4"/>
          <a:stretch>
            <a:fillRect/>
          </a:stretch>
        </p:blipFill>
        <p:spPr>
          <a:xfrm>
            <a:off x="822960" y="5541264"/>
            <a:ext cx="219456" cy="219456"/>
          </a:xfrm>
          <a:prstGeom prst="rect">
            <a:avLst/>
          </a:prstGeom>
        </p:spPr>
      </p:pic>
      <p:sp>
        <p:nvSpPr>
          <p:cNvPr id="14" name="Text 7"/>
          <p:cNvSpPr/>
          <p:nvPr/>
        </p:nvSpPr>
        <p:spPr>
          <a:xfrm>
            <a:off x="1143000" y="5504688"/>
            <a:ext cx="10225735" cy="365760"/>
          </a:xfrm>
          <a:prstGeom prst="rect">
            <a:avLst/>
          </a:prstGeom>
          <a:noFill/>
          <a:ln/>
        </p:spPr>
        <p:txBody>
          <a:bodyPr wrap="square" lIns="0" tIns="0" rIns="0" bIns="0" rtlCol="0" anchor="ctr"/>
          <a:lstStyle/>
          <a:p>
            <a:pPr indent="0" marL="0">
              <a:buNone/>
            </a:pPr>
            <a:r>
              <a:rPr lang="en-US" sz="1250" dirty="0">
                <a:solidFill>
                  <a:srgbClr val="20264A"/>
                </a:solidFill>
                <a:latin typeface="Calibri" pitchFamily="34" charset="0"/>
                <a:ea typeface="Calibri" pitchFamily="34" charset="-122"/>
                <a:cs typeface="Calibri" pitchFamily="34" charset="-120"/>
              </a:rPr>
              <a:t>Treat defaultValue as either a literal or a variable binding — never assume which without checking.</a:t>
            </a:r>
            <a:endParaRPr lang="en-US" sz="1250" dirty="0"/>
          </a:p>
        </p:txBody>
      </p:sp>
      <p:sp>
        <p:nvSpPr>
          <p:cNvPr id="15" name="Text 8"/>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16" name="Text 9"/>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REFERENCE</a:t>
            </a:r>
            <a:endParaRPr lang="en-US" sz="1300" dirty="0"/>
          </a:p>
        </p:txBody>
      </p:sp>
      <p:sp>
        <p:nvSpPr>
          <p:cNvPr id="3" name="Text 1"/>
          <p:cNvSpPr/>
          <p:nvPr/>
        </p:nvSpPr>
        <p:spPr>
          <a:xfrm>
            <a:off x="548640" y="713232"/>
            <a:ext cx="1109441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When the Contract Can Change</a:t>
            </a:r>
            <a:endParaRPr lang="en-US" sz="3000" dirty="0"/>
          </a:p>
        </p:txBody>
      </p:sp>
      <p:sp>
        <p:nvSpPr>
          <p:cNvPr id="4" name="Text 2"/>
          <p:cNvSpPr/>
          <p:nvPr/>
        </p:nvSpPr>
        <p:spPr>
          <a:xfrm>
            <a:off x="548640" y="1371600"/>
            <a:ext cx="11094415" cy="548640"/>
          </a:xfrm>
          <a:prstGeom prst="rect">
            <a:avLst/>
          </a:prstGeom>
          <a:noFill/>
          <a:ln/>
        </p:spPr>
        <p:txBody>
          <a:bodyPr wrap="square" lIns="0" tIns="0" rIns="0" bIns="0" rtlCol="0" anchor="ctr"/>
          <a:lstStyle/>
          <a:p>
            <a:pPr indent="0" marL="0">
              <a:buNone/>
            </a:pPr>
            <a:r>
              <a:rPr lang="en-US" sz="1350" dirty="0">
                <a:solidFill>
                  <a:srgbClr val="20264A"/>
                </a:solidFill>
                <a:latin typeface="Calibri" pitchFamily="34" charset="0"/>
                <a:ea typeface="Calibri" pitchFamily="34" charset="-122"/>
                <a:cs typeface="Calibri" pitchFamily="34" charset="-120"/>
              </a:rPr>
              <a:t>The shape you're integrating against today is stable. These are the specific triggers that would change it — and we'll flag it when they happen.</a:t>
            </a:r>
            <a:endParaRPr lang="en-US" sz="1350" dirty="0"/>
          </a:p>
        </p:txBody>
      </p:sp>
      <p:sp>
        <p:nvSpPr>
          <p:cNvPr id="5" name="Shape 3"/>
          <p:cNvSpPr/>
          <p:nvPr/>
        </p:nvSpPr>
        <p:spPr>
          <a:xfrm>
            <a:off x="548640" y="2148840"/>
            <a:ext cx="11094415" cy="1051560"/>
          </a:xfrm>
          <a:prstGeom prst="roundRect">
            <a:avLst>
              <a:gd name="adj" fmla="val 6957"/>
            </a:avLst>
          </a:prstGeom>
          <a:solidFill>
            <a:srgbClr val="F4F7FD"/>
          </a:solidFill>
          <a:ln/>
          <a:effectLst>
            <a:outerShdw sx="100000" sy="100000" kx="0" ky="0" algn="bl" rotWithShape="0" blurRad="88900" dist="25400" dir="5400000">
              <a:srgbClr val="000000">
                <a:alpha val="10000"/>
              </a:srgbClr>
            </a:outerShdw>
          </a:effectLst>
        </p:spPr>
      </p:sp>
      <p:sp>
        <p:nvSpPr>
          <p:cNvPr id="6" name="Shape 4"/>
          <p:cNvSpPr/>
          <p:nvPr/>
        </p:nvSpPr>
        <p:spPr>
          <a:xfrm>
            <a:off x="777240" y="2423160"/>
            <a:ext cx="502920" cy="502920"/>
          </a:xfrm>
          <a:prstGeom prst="ellipse">
            <a:avLst/>
          </a:prstGeom>
          <a:solidFill>
            <a:srgbClr val="1E2761"/>
          </a:solidFill>
          <a:ln/>
        </p:spPr>
      </p:sp>
      <p:sp>
        <p:nvSpPr>
          <p:cNvPr id="7" name="Text 5"/>
          <p:cNvSpPr/>
          <p:nvPr/>
        </p:nvSpPr>
        <p:spPr>
          <a:xfrm>
            <a:off x="777240" y="24231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1508760" y="2331720"/>
            <a:ext cx="4937760" cy="3657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 new component type is added to a screen</a:t>
            </a:r>
            <a:endParaRPr lang="en-US" sz="1400" dirty="0"/>
          </a:p>
        </p:txBody>
      </p:sp>
      <p:sp>
        <p:nvSpPr>
          <p:cNvPr id="9" name="Text 7"/>
          <p:cNvSpPr/>
          <p:nvPr/>
        </p:nvSpPr>
        <p:spPr>
          <a:xfrm>
            <a:off x="6583680" y="2331720"/>
            <a:ext cx="5059375" cy="777240"/>
          </a:xfrm>
          <a:prstGeom prst="rect">
            <a:avLst/>
          </a:prstGeom>
          <a:noFill/>
          <a:ln/>
        </p:spPr>
        <p:txBody>
          <a:bodyPr wrap="square" lIns="0" tIns="0" rIns="0" bIns="0" rtlCol="0" anchor="ctr"/>
          <a:lstStyle/>
          <a:p>
            <a:pPr indent="0" marL="0">
              <a:buNone/>
            </a:pPr>
            <a:r>
              <a:rPr lang="en-US" sz="1200" dirty="0">
                <a:solidFill>
                  <a:srgbClr val="20264A"/>
                </a:solidFill>
                <a:latin typeface="Calibri" pitchFamily="34" charset="0"/>
                <a:ea typeface="Calibri" pitchFamily="34" charset="-122"/>
                <a:cs typeface="Calibri" pitchFamily="34" charset="-120"/>
              </a:rPr>
              <a:t>A new key will appear in the componentId map — existing keys are unaffected.</a:t>
            </a:r>
            <a:endParaRPr lang="en-US" sz="1200" dirty="0"/>
          </a:p>
        </p:txBody>
      </p:sp>
      <p:sp>
        <p:nvSpPr>
          <p:cNvPr id="10" name="Shape 8"/>
          <p:cNvSpPr/>
          <p:nvPr/>
        </p:nvSpPr>
        <p:spPr>
          <a:xfrm>
            <a:off x="548640" y="3337560"/>
            <a:ext cx="11094415" cy="1051560"/>
          </a:xfrm>
          <a:prstGeom prst="roundRect">
            <a:avLst>
              <a:gd name="adj" fmla="val 6957"/>
            </a:avLst>
          </a:prstGeom>
          <a:solidFill>
            <a:srgbClr val="F4F7FD"/>
          </a:solidFill>
          <a:ln/>
          <a:effectLst>
            <a:outerShdw sx="100000" sy="100000" kx="0" ky="0" algn="bl" rotWithShape="0" blurRad="88900" dist="25400" dir="5400000">
              <a:srgbClr val="000000">
                <a:alpha val="10000"/>
              </a:srgbClr>
            </a:outerShdw>
          </a:effectLst>
        </p:spPr>
      </p:sp>
      <p:sp>
        <p:nvSpPr>
          <p:cNvPr id="11" name="Shape 9"/>
          <p:cNvSpPr/>
          <p:nvPr/>
        </p:nvSpPr>
        <p:spPr>
          <a:xfrm>
            <a:off x="777240" y="3611880"/>
            <a:ext cx="502920" cy="502920"/>
          </a:xfrm>
          <a:prstGeom prst="ellipse">
            <a:avLst/>
          </a:prstGeom>
          <a:solidFill>
            <a:srgbClr val="1E2761"/>
          </a:solidFill>
          <a:ln/>
        </p:spPr>
      </p:sp>
      <p:sp>
        <p:nvSpPr>
          <p:cNvPr id="12" name="Text 10"/>
          <p:cNvSpPr/>
          <p:nvPr/>
        </p:nvSpPr>
        <p:spPr>
          <a:xfrm>
            <a:off x="777240" y="36118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1"/>
          <p:cNvSpPr/>
          <p:nvPr/>
        </p:nvSpPr>
        <p:spPr>
          <a:xfrm>
            <a:off x="1508760" y="3520440"/>
            <a:ext cx="4937760" cy="3657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 new relation needs to be exposed</a:t>
            </a:r>
            <a:endParaRPr lang="en-US" sz="1400" dirty="0"/>
          </a:p>
        </p:txBody>
      </p:sp>
      <p:sp>
        <p:nvSpPr>
          <p:cNvPr id="14" name="Text 12"/>
          <p:cNvSpPr/>
          <p:nvPr/>
        </p:nvSpPr>
        <p:spPr>
          <a:xfrm>
            <a:off x="6583680" y="3520440"/>
            <a:ext cx="5059375" cy="777240"/>
          </a:xfrm>
          <a:prstGeom prst="rect">
            <a:avLst/>
          </a:prstGeom>
          <a:noFill/>
          <a:ln/>
        </p:spPr>
        <p:txBody>
          <a:bodyPr wrap="square" lIns="0" tIns="0" rIns="0" bIns="0" rtlCol="0" anchor="ctr"/>
          <a:lstStyle/>
          <a:p>
            <a:pPr indent="0" marL="0">
              <a:buNone/>
            </a:pPr>
            <a:r>
              <a:rPr lang="en-US" sz="1200" dirty="0">
                <a:solidFill>
                  <a:srgbClr val="20264A"/>
                </a:solidFill>
                <a:latin typeface="Calibri" pitchFamily="34" charset="0"/>
                <a:ea typeface="Calibri" pitchFamily="34" charset="-122"/>
                <a:cs typeface="Calibri" pitchFamily="34" charset="-120"/>
              </a:rPr>
              <a:t>e.g. another dropdown-style field gaining a resolved values list.</a:t>
            </a:r>
            <a:endParaRPr lang="en-US" sz="1200" dirty="0"/>
          </a:p>
        </p:txBody>
      </p:sp>
      <p:sp>
        <p:nvSpPr>
          <p:cNvPr id="15" name="Shape 13"/>
          <p:cNvSpPr/>
          <p:nvPr/>
        </p:nvSpPr>
        <p:spPr>
          <a:xfrm>
            <a:off x="548640" y="4526280"/>
            <a:ext cx="11094415" cy="1051560"/>
          </a:xfrm>
          <a:prstGeom prst="roundRect">
            <a:avLst>
              <a:gd name="adj" fmla="val 6957"/>
            </a:avLst>
          </a:prstGeom>
          <a:solidFill>
            <a:srgbClr val="F4F7FD"/>
          </a:solidFill>
          <a:ln/>
          <a:effectLst>
            <a:outerShdw sx="100000" sy="100000" kx="0" ky="0" algn="bl" rotWithShape="0" blurRad="88900" dist="25400" dir="5400000">
              <a:srgbClr val="000000">
                <a:alpha val="10000"/>
              </a:srgbClr>
            </a:outerShdw>
          </a:effectLst>
        </p:spPr>
      </p:sp>
      <p:sp>
        <p:nvSpPr>
          <p:cNvPr id="16" name="Shape 14"/>
          <p:cNvSpPr/>
          <p:nvPr/>
        </p:nvSpPr>
        <p:spPr>
          <a:xfrm>
            <a:off x="777240" y="4800600"/>
            <a:ext cx="502920" cy="502920"/>
          </a:xfrm>
          <a:prstGeom prst="ellipse">
            <a:avLst/>
          </a:prstGeom>
          <a:solidFill>
            <a:srgbClr val="1E2761"/>
          </a:solidFill>
          <a:ln/>
        </p:spPr>
      </p:sp>
      <p:sp>
        <p:nvSpPr>
          <p:cNvPr id="17" name="Text 15"/>
          <p:cNvSpPr/>
          <p:nvPr/>
        </p:nvSpPr>
        <p:spPr>
          <a:xfrm>
            <a:off x="777240" y="48006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6"/>
          <p:cNvSpPr/>
          <p:nvPr/>
        </p:nvSpPr>
        <p:spPr>
          <a:xfrm>
            <a:off x="1508760" y="4709160"/>
            <a:ext cx="4937760" cy="3657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 relationship-resolution bug is found &amp; fixed</a:t>
            </a:r>
            <a:endParaRPr lang="en-US" sz="1400" dirty="0"/>
          </a:p>
        </p:txBody>
      </p:sp>
      <p:sp>
        <p:nvSpPr>
          <p:cNvPr id="19" name="Text 17"/>
          <p:cNvSpPr/>
          <p:nvPr/>
        </p:nvSpPr>
        <p:spPr>
          <a:xfrm>
            <a:off x="6583680" y="4709160"/>
            <a:ext cx="5059375" cy="777240"/>
          </a:xfrm>
          <a:prstGeom prst="rect">
            <a:avLst/>
          </a:prstGeom>
          <a:noFill/>
          <a:ln/>
        </p:spPr>
        <p:txBody>
          <a:bodyPr wrap="square" lIns="0" tIns="0" rIns="0" bIns="0" rtlCol="0" anchor="ctr"/>
          <a:lstStyle/>
          <a:p>
            <a:pPr indent="0" marL="0">
              <a:buNone/>
            </a:pPr>
            <a:r>
              <a:rPr lang="en-US" sz="1200" dirty="0">
                <a:solidFill>
                  <a:srgbClr val="20264A"/>
                </a:solidFill>
                <a:latin typeface="Calibri" pitchFamily="34" charset="0"/>
                <a:ea typeface="Calibri" pitchFamily="34" charset="-122"/>
                <a:cs typeface="Calibri" pitchFamily="34" charset="-120"/>
              </a:rPr>
              <a:t>Verified with a before/after test before it ships — as we did for dropdown options.</a:t>
            </a:r>
            <a:endParaRPr lang="en-US" sz="1200" dirty="0"/>
          </a:p>
        </p:txBody>
      </p:sp>
      <p:sp>
        <p:nvSpPr>
          <p:cNvPr id="20" name="Text 18"/>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8C"/>
                </a:solidFill>
                <a:latin typeface="Calibri" pitchFamily="34" charset="0"/>
                <a:ea typeface="Calibri" pitchFamily="34" charset="-122"/>
                <a:cs typeface="Calibri" pitchFamily="34" charset="-120"/>
              </a:rPr>
              <a:t>Navigator &amp; Template-Screen — Integration Guide</a:t>
            </a:r>
            <a:endParaRPr lang="en-US" sz="1000" dirty="0"/>
          </a:p>
        </p:txBody>
      </p:sp>
      <p:sp>
        <p:nvSpPr>
          <p:cNvPr id="21" name="Text 19"/>
          <p:cNvSpPr/>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5410048" y="1371600"/>
            <a:ext cx="1371600" cy="1371600"/>
          </a:xfrm>
          <a:prstGeom prst="ellipse">
            <a:avLst/>
          </a:prstGeom>
          <a:solidFill>
            <a:srgbClr val="16204A"/>
          </a:solidFill>
          <a:ln/>
        </p:spPr>
      </p:sp>
      <p:pic>
        <p:nvPicPr>
          <p:cNvPr id="3" name="Image 0" descr="preencoded.png">    </p:cNvPr>
          <p:cNvPicPr>
            <a:picLocks noChangeAspect="1"/>
          </p:cNvPicPr>
          <p:nvPr/>
        </p:nvPicPr>
        <p:blipFill>
          <a:blip r:embed="rId1"/>
          <a:stretch>
            <a:fillRect/>
          </a:stretch>
        </p:blipFill>
        <p:spPr>
          <a:xfrm>
            <a:off x="5766664" y="1728216"/>
            <a:ext cx="658368" cy="658368"/>
          </a:xfrm>
          <a:prstGeom prst="rect">
            <a:avLst/>
          </a:prstGeom>
        </p:spPr>
      </p:pic>
      <p:sp>
        <p:nvSpPr>
          <p:cNvPr id="4" name="Text 1"/>
          <p:cNvSpPr/>
          <p:nvPr/>
        </p:nvSpPr>
        <p:spPr>
          <a:xfrm>
            <a:off x="0" y="3108960"/>
            <a:ext cx="12191695" cy="8229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Questions?</a:t>
            </a:r>
            <a:endParaRPr lang="en-US" sz="3800" dirty="0"/>
          </a:p>
        </p:txBody>
      </p:sp>
      <p:sp>
        <p:nvSpPr>
          <p:cNvPr id="5" name="Text 2"/>
          <p:cNvSpPr/>
          <p:nvPr/>
        </p:nvSpPr>
        <p:spPr>
          <a:xfrm>
            <a:off x="0" y="3886200"/>
            <a:ext cx="12191695" cy="457200"/>
          </a:xfrm>
          <a:prstGeom prst="rect">
            <a:avLst/>
          </a:prstGeom>
          <a:noFill/>
          <a:ln/>
        </p:spPr>
        <p:txBody>
          <a:bodyPr wrap="square" lIns="0" tIns="0" rIns="0" bIns="0" rtlCol="0" anchor="ctr"/>
          <a:lstStyle/>
          <a:p>
            <a:pPr algn="ctr" indent="0" marL="0">
              <a:buNone/>
            </a:pPr>
            <a:r>
              <a:rPr lang="en-US" sz="1500" dirty="0">
                <a:solidFill>
                  <a:srgbClr val="CADCFC"/>
                </a:solidFill>
                <a:latin typeface="Calibri" pitchFamily="34" charset="0"/>
                <a:ea typeface="Calibri" pitchFamily="34" charset="-122"/>
                <a:cs typeface="Calibri" pitchFamily="34" charset="-120"/>
              </a:rPr>
              <a:t>Navigator &amp; Template-Screen — Integration Walkthrough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Navigator &amp; Template-Screen — Integration Walkthrough</dc:title>
  <dc:subject>PptxGenJS Presentation</dc:subject>
  <dc:creator>cep-cms</dc:creator>
  <cp:lastModifiedBy>cep-cms</cp:lastModifiedBy>
  <cp:revision>1</cp:revision>
  <dcterms:created xsi:type="dcterms:W3CDTF">2026-07-01T02:20:07Z</dcterms:created>
  <dcterms:modified xsi:type="dcterms:W3CDTF">2026-07-01T02:20:07Z</dcterms:modified>
</cp:coreProperties>
</file>